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4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position: 'relative', overflow: 'hidden' }}&gt;&#10;&#10;    {/* 左：深绿主色块 */}&#10;    &lt;Box style={{ position: 'absolute', left: 0, top: 0, width: 720, height: 720, background: '#0B6B5B', paddingTop: 84, paddingBottom: 62, paddingLeft: 88, paddingRight: 74, flexDirection: 'column', justifyContent: 'space-between' }}&gt;&#10;&#10;        &lt;Box style={{ flexDirection: 'column' }}&gt;&#10;            &lt;Animation animType=&quot;fadeIn&quot; startType=&quot;afterPrevious&quot; duration={450} delay={80}&gt;&#10;                &lt;Text style={{ fontSize: 15, fontWeight: 'bold', color: 'rgba(251,249,244,0.55)', letterSpacing: 5, lineHeight: 1.4 }}&gt;&#10;                    高中生涯规划 · 院校巡礼&#10;                &lt;/Text&gt;&#10;            &lt;/Animation&gt;&#10;            &lt;Box style={{ height: 26 }} /&gt;&#10;            &lt;Animation animType=&quot;fadeIn&quot; startType=&quot;afterPrevious&quot; duration={650}&gt;&#10;                &lt;Text style={{ fontSize: 92, fontWeight: 'bold', color: '#FBF9F4', letterSpacing: 6, lineHeight: 1.05 }}&gt;&#10;                    深圳大学&#10;                &lt;/Text&gt;&#10;            &lt;/Animation&gt;&#10;            &lt;Box style={{ height: 26 }} /&gt;&#10;            &lt;Box style={{ width: 76, height: 4, background: '#E2542C' }} /&gt;&#10;            &lt;Box style={{ height: 22 }} /&gt;&#10;            &lt;Animation animType=&quot;fadeIn&quot; startType=&quot;afterPrevious&quot; duration={550}&gt;&#10;                &lt;Text style={{ fontSize: 26, color: 'rgba(251,249,244,0.84)', letterSpacing: 1, lineHeight: 1.5 }}&gt;&#10;                    一所与特区同时「开学」的大学&#10;                &lt;/Text&gt;&#10;            &lt;/Animation&gt;&#10;        &lt;/Box&gt;&#10;&#10;        &lt;Animation animType=&quot;fadeIn&quot; startType=&quot;afterPrevious&quot; duration={600}&gt;&#10;            &lt;Box style={{ flexDirection: 'column' }}&gt;&#10;                &lt;Box style={{ flexDirection: 'column', gap: 20 }}&gt;&#10;                    &lt;Box style={{ flexDirection: 'row', gap: 16 }}&gt;&#10;                        &lt;Text style={{ fontSize: 15, fontFamily: 'Arial', fontWeight: 'bold', color: 'rgba(251,249,244,0.42)', lineHeight: 1.7, width: 26 }}&gt;01&lt;/Text&gt;&#10;                        &lt;Text style={{ fontSize: 20, color: 'rgba(251,249,244,0.80)', lineHeight: 1.4 }}&gt;一所因特区而生的学校&lt;/Text&gt;&#10;                    &lt;/Box&gt;&#10;                    &lt;Box style={{ flexDirection: 'row', gap: 16 }}&gt;&#10;                        &lt;Text style={{ fontSize: 15, fontFamily: 'Arial', fontWeight: 'bold', color: 'rgba(251,249,244,0.42)', lineHeight: 1.7, width: 26 }}&gt;02&lt;/Text&gt;&#10;                        &lt;Text style={{ fontSize: 20, color: 'rgba(251,249,244,0.80)', lineHeight: 1.4 }}&gt;没有标签，平台做到了什么位置&lt;/Text&gt;&#10;                    &lt;/Box&gt;&#10;                    &lt;Box style={{ flexDirection: 'row', gap: 16 }}&gt;&#10;                        &lt;Text style={{ fontSize: 15, fontFamily: 'Arial', fontWeight: 'bold', color: 'rgba(251,249,244,0.42)', lineHeight: 1.7, width: 26 }}&gt;03&lt;/Text&gt;&#10;                        &lt;Text style={{ fontSize: 20, color: 'rgba(251,249,244,0.80)', lineHeight: 1.4 }}&gt;它适合谁，以及不适合谁&lt;/Text&gt;&#10;                    &lt;/Box&gt;&#10;                &lt;/Box&gt;&#10;                &lt;Box style={{ height: 26 }} /&gt;&#10;                &lt;Box style={{ flexDirection: 'column', gap: 4 }}&gt;&#10;                    &lt;Text style={{ fontSize: 17, color: 'rgba(251,249,244,0.55)', lineHeight: 1.75, letterSpacing: 0.5 }}&gt;&#10;                        这不是招生简章。只回答一个问题：&#10;                    &lt;/Text&gt;&#10;                    &lt;Text style={{ fontSize: 17, color: 'rgba(251,249,244,0.55)', lineHeight: 1.75, letterSpacing: 0.5 }}&gt;&#10;                        它的优势，和你要走的路，重不重叠。&#10;                    &lt;/Text&gt;&#10;                &lt;/Box&gt;&#10;            &lt;/Box&gt;&#10;        &lt;/Animation&gt;&#10;&#10;        &lt;Box style={{ flexDirection: 'column', gap: 13 }}&gt;&#10;            &lt;Box style={{ width: '100%', height: 1, background: 'rgba(251,249,244,0.22)' }} /&gt;&#10;            &lt;Text style={{ fontSize: 14, color: 'rgba(251,249,244,0.48)', letterSpacing: 1.5, lineHeight: 1.4 }}&gt;&#10;                1983 年创办　·　深圳南山　·　讲完大约 5 分钟&#10;            &lt;/Text&gt;&#10;        &lt;/Box&gt;&#10;&#10;    &lt;/Box&gt;&#10;&#10;    {/* 骑线 */}&#10;    &lt;Box style={{ position: 'absolute', left: 720, top: 0, width: 3, height: 720, background: '#E2542C' }} /&gt;&#10;&#10;    {/* 右：满高照片 */}&#10;    &lt;Animation animType=&quot;fadeIn&quot; startType=&quot;afterPrevious&quot; duration={800}&gt;&#10;        &lt;Box style={{ position: 'absolute', left: 723, top: 0, width: 557, height: 720, overflow: 'hidden' }}&gt;&#10;            &lt;Image src=&quot;assets/cover_campus.jpg&quot; style={{ width: 557, height: 720, objectFit: 'cover' }} /&gt;&#10;        &lt;/Box&gt;&#10;    &lt;/Animation&gt;&#10;&#10;    {/* 页码 */}&#10;    &lt;Text style={{ position: 'absolute', right: 34, bottom: 26, fontSize: 14, color: 'rgba(251,249,244,0.85)', letterSpacing: 1 }}&gt;&#10;        01 / 08&#10;  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6B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838200" y="800100"/>
            <a:ext cx="5314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125" b="1" spc="37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高中生涯规划</a:t>
            </a:r>
            <a:r>
              <a:rPr lang="en-US" sz="1125" b="1" spc="37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37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院校巡礼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38200" y="1295400"/>
            <a:ext cx="531495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5000"/>
              </a:lnSpc>
            </a:pPr>
            <a:r>
              <a:rPr lang="zh-CN" sz="6900" b="1" spc="450">
                <a:solidFill>
                  <a:srgbClr val="FBF9F4"/>
                </a:solidFill>
                <a:latin typeface="Microsoft YaHei"/>
                <a:ea typeface="Microsoft YaHei"/>
              </a:rPr>
              <a:t>深圳大学</a:t>
            </a:r>
            <a:endParaRPr/>
          </a:p>
        </p:txBody>
      </p:sp>
      <p:sp>
        <p:nvSpPr>
          <p:cNvPr id="6" name="矩形 5"/>
          <p:cNvSpPr/>
          <p:nvPr/>
        </p:nvSpPr>
        <p:spPr>
          <a:xfrm>
            <a:off x="838200" y="2647950"/>
            <a:ext cx="723900" cy="38100"/>
          </a:xfrm>
          <a:prstGeom prst="rect">
            <a:avLst/>
          </a:prstGeom>
          <a:solidFill>
            <a:srgbClr val="E254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838200" y="2895600"/>
            <a:ext cx="531495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950" spc="75">
                <a:solidFill>
                  <a:srgbClr val="FBF9F4">
                    <a:alpha val="84000"/>
                  </a:srgbClr>
                </a:solidFill>
                <a:latin typeface="Microsoft YaHei"/>
                <a:ea typeface="Microsoft YaHei"/>
              </a:rPr>
              <a:t>一所与特区同时「开学」的大学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838200" y="3467100"/>
            <a:ext cx="2476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BF9F4">
                    <a:alpha val="42000"/>
                  </a:srgbClr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238250" y="3467100"/>
            <a:ext cx="1905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 dirty="0">
                <a:solidFill>
                  <a:srgbClr val="FBF9F4">
                    <a:alpha val="80000"/>
                  </a:srgbClr>
                </a:solidFill>
                <a:latin typeface="Microsoft YaHei"/>
                <a:ea typeface="Microsoft YaHei"/>
              </a:rPr>
              <a:t>一所因特区而生的学校</a:t>
            </a:r>
            <a:endParaRPr dirty="0"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38200" y="3981450"/>
            <a:ext cx="2476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BF9F4">
                    <a:alpha val="42000"/>
                  </a:srgbClr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238250" y="3981450"/>
            <a:ext cx="2667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>
                <a:solidFill>
                  <a:srgbClr val="FBF9F4">
                    <a:alpha val="80000"/>
                  </a:srgbClr>
                </a:solidFill>
                <a:latin typeface="Microsoft YaHei"/>
                <a:ea typeface="Microsoft YaHei"/>
              </a:rPr>
              <a:t>没有标签，平台做到了什么位置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838200" y="4495800"/>
            <a:ext cx="2476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BF9F4">
                    <a:alpha val="42000"/>
                  </a:srgbClr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238250" y="4495800"/>
            <a:ext cx="2095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>
                <a:solidFill>
                  <a:srgbClr val="FBF9F4">
                    <a:alpha val="80000"/>
                  </a:srgbClr>
                </a:solidFill>
                <a:latin typeface="Microsoft YaHei"/>
                <a:ea typeface="Microsoft YaHei"/>
              </a:rPr>
              <a:t>它适合谁，以及不适合谁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838200" y="5067300"/>
            <a:ext cx="5314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endParaRPr lang="en-US" dirty="0"/>
          </a:p>
          <a:p>
            <a:pPr>
              <a:lnSpc>
                <a:spcPct val="175000"/>
              </a:lnSpc>
            </a:pPr>
            <a:endParaRPr dirty="0"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38200" y="5448300"/>
            <a:ext cx="5314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endParaRPr dirty="0"/>
          </a:p>
        </p:txBody>
      </p:sp>
      <p:sp>
        <p:nvSpPr>
          <p:cNvPr id="16" name="矩形 15"/>
          <p:cNvSpPr/>
          <p:nvPr/>
        </p:nvSpPr>
        <p:spPr>
          <a:xfrm>
            <a:off x="838200" y="5905500"/>
            <a:ext cx="5314950" cy="9525"/>
          </a:xfrm>
          <a:prstGeom prst="rect">
            <a:avLst/>
          </a:prstGeom>
          <a:solidFill>
            <a:srgbClr val="FBF9F4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838200" y="6038850"/>
            <a:ext cx="5314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 spc="113">
                <a:solidFill>
                  <a:srgbClr val="FBF9F4">
                    <a:alpha val="48000"/>
                  </a:srgbClr>
                </a:solidFill>
                <a:latin typeface="Microsoft YaHei"/>
                <a:ea typeface="Microsoft YaHei"/>
              </a:rPr>
              <a:t>1983 </a:t>
            </a:r>
            <a:r>
              <a:rPr lang="zh-CN" sz="1050" spc="113">
                <a:solidFill>
                  <a:srgbClr val="FBF9F4">
                    <a:alpha val="48000"/>
                  </a:srgbClr>
                </a:solidFill>
                <a:latin typeface="Microsoft YaHei"/>
                <a:ea typeface="Microsoft YaHei"/>
              </a:rPr>
              <a:t>年创办　·　深圳南山　·　讲完大约</a:t>
            </a:r>
            <a:r>
              <a:rPr lang="en-US" sz="1050" spc="113">
                <a:solidFill>
                  <a:srgbClr val="FBF9F4">
                    <a:alpha val="48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050" spc="113">
                <a:solidFill>
                  <a:srgbClr val="FBF9F4">
                    <a:alpha val="48000"/>
                  </a:srgbClr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8" name="矩形 17"/>
          <p:cNvSpPr/>
          <p:nvPr/>
        </p:nvSpPr>
        <p:spPr>
          <a:xfrm>
            <a:off x="6858000" y="0"/>
            <a:ext cx="28575" cy="6858000"/>
          </a:xfrm>
          <a:prstGeom prst="rect">
            <a:avLst/>
          </a:prstGeom>
          <a:solidFill>
            <a:srgbClr val="E2542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t="3278" b="3278"/>
          <a:stretch>
            <a:fillRect/>
          </a:stretch>
        </p:blipFill>
        <p:spPr>
          <a:xfrm>
            <a:off x="6886575" y="0"/>
            <a:ext cx="5305425" cy="6858000"/>
          </a:xfrm>
          <a:prstGeom prst="rect">
            <a:avLst/>
          </a:prstGeom>
          <a:ln/>
        </p:spPr>
      </p:pic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1344275" y="644842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BF9F4">
                    <a:alpha val="85000"/>
                  </a:srgbClr>
                </a:solidFill>
                <a:latin typeface="Microsoft YaHei"/>
                <a:ea typeface="Microsoft YaHei"/>
              </a:rPr>
              <a:t>01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没有「双一流」标签，平台到了什么位置&#10;        &lt;/Text&gt;&#10;        &lt;Text style={{ fontSize: 14, color: 'rgba(23,33,31,0.42)', letterSpacing: 3, paddingBottom: 8 }}&gt;数　据&lt;/Text&gt;&#10;    &lt;/Box&gt;&#10;&#10;    &lt;Box style={{ height: 540, paddingLeft: 64, paddingRight: 64, flexDirection: 'column' }}&gt;&#10;&#10;        &lt;Box style={{ height: 356, flexDirection: 'row', gap: 24 }}&gt;&#10;&#10;            &lt;Animation animType=&quot;fadeIn&quot; startType=&quot;afterPrevious&quot; duration={600}&gt;&#10;                &lt;Box style={{ width: 372, background: 'rgba(11,107,91,0.08)', padding: 32, flexDirection: 'column', justifyContent: 'space-between' }}&gt;&#10;                    &lt;Text style={{ fontSize: 14, color: 'rgba(23,33,31,0.45)', letterSpacing: 2 }}&gt;2026 软科中国大学排名&lt;/Text&gt;&#10;                    &lt;Text style={{ fontSize: 108, fontWeight: 'bold', fontFamily: 'Arial', color: '#0B6B5B', lineHeight: 1, letterSpacing: -3 }}&gt;66&lt;/Text&gt;&#10;                    &lt;Box style={{ flexDirection: 'column' }}&gt;&#10;                        &lt;Text style={{ fontSize: 22, fontWeight: 'bold', color: '#17211F', lineHeight: 1.4 }}&gt;&#10;                            非「双一流」高校中第 1&#10;                        &lt;/Text&gt;&#10;                        &lt;Text style={{ fontSize: 16, color: 'rgba(23,33,31,0.52)', lineHeight: 1.6, marginTop: 8 }}&gt;&#10;                            学科评估目前无 A 类，最高 B+&#10;                        &lt;/Text&gt;&#10;                    &lt;/Box&gt;&#10;                &lt;/Box&gt;&#10;            &lt;/Animation&gt;&#10;&#10;            &lt;Animation animType=&quot;fadeIn&quot; startType=&quot;afterPrevious&quot; duration={550}&gt;&#10;                &lt;Box style={{ flex: 1, flexDirection: 'column', gap: 24 }}&gt;&#10;                    &lt;Box style={{ flexDirection: 'row', gap: 24, height: 166 }}&gt;&#10;                        &lt;Box style={{ flex: 1, background: 'rgba(11,107,91,0.08)', padding: 24, flexDirection: 'column', justifyContent: 'center' }}&gt;&#10;                            &lt;Text style={{ fontSize: 54, fontWeight: 'bold', fontFamily: 'Arial', color: '#17211F', lineHeight: 1 }}&gt;20&lt;/Text&gt;&#10;                            &lt;Text style={{ fontSize: 16, color: 'rgba(23,33,31,0.60)', lineHeight: 1.5, marginTop: 10 }}&gt;个学科进入 ESI 全球前 1%&lt;/Text&gt;&#10;                        &lt;/Box&gt;&#10;                        &lt;Box style={{ flex: 1, background: 'rgba(226,84,44,0.10)', padding: 24, flexDirection: 'column', justifyContent: 'center' }}&gt;&#10;                            &lt;Text style={{ fontSize: 54, fontWeight: 'bold', fontFamily: 'Arial', color: '#E2542C', lineHeight: 1 }}&gt;4&lt;/Text&gt;&#10;                            &lt;Text style={{ fontSize: 16, color: 'rgba(23,33,31,0.70)', lineHeight: 1.5, marginTop: 10 }}&gt;个学科进入全球前 1‰：工程、材料、计算机、化学&lt;/Text&gt;&#10;                        &lt;/Box&gt;&#10;                    &lt;/Box&gt;&#10;                    &lt;Box style={{ flexDirection: 'row', gap: 24, height: 166 }}&gt;&#10;                        &lt;Box style={{ flex: 1, background: 'rgba(11,107,91,0.08)', padding: 24, flexDirection: 'column', justifyContent: 'center' }}&gt;&#10;                            &lt;Text style={{ fontSize: 44, fontWeight: 'bold', fontFamily: 'Arial', color: '#17211F', lineHeight: 1 }}&gt;70.53 亿&lt;/Text&gt;&#10;                            &lt;Text style={{ fontSize: 16, color: 'rgba(23,33,31,0.60)', lineHeight: 1.5, marginTop: 10 }}&gt;2026 年部门预算，非「双一流」中连续多年居首&lt;/Text&gt;&#10;                        &lt;/Box&gt;&#10;                        &lt;Box style={{ flex: 1, background: 'rgba(11,107,91,0.08)', padding: 24, flexDirection: 'column', justifyContent: 'center' }}&gt;&#10;                            &lt;Text style={{ fontSize: 44, fontWeight: 'bold', fontFamily: 'Arial', color: '#17211F', lineHeight: 1 }}&gt;1 + 4&lt;/Text&gt;&#10;                            &lt;Text style={{ fontSize: 16, color: 'rgba(23,33,31,0.60)', lineHeight: 1.5, marginTop: 10 }}&gt;牵头 1 个、参与 4 个全国重点实验室&lt;/Text&gt;&#10;                        &lt;/Box&gt;&#10;                    &lt;/Box&gt;&#10;                &lt;/Box&gt;&#10;            &lt;/Animation&gt;&#10;&#10;        &lt;/Box&gt;&#10;&#10;        &lt;Animation animType=&quot;fadeIn&quot; startType=&quot;afterPrevious&quot; duration={500}&gt;&#10;            &lt;Box style={{ height: 112, marginTop: 24, flexDirection: 'row', alignItems: 'center', background: 'rgba(226,84,44,0.10)', paddingLeft: 0 }}&gt;&#10;                &lt;Box style={{ width: 4, height: 112, background: '#E2542C' }} /&gt;&#10;                &lt;Box style={{ paddingLeft: 28, paddingRight: 28, flexDirection: 'column', gap: 6 }}&gt;&#10;                    &lt;Text style={{ fontSize: 18, fontWeight: 'bold', color: '#17211F' }}&gt;所以这一页要客观地看&lt;/Text&gt;&#10;                    &lt;Text style={{ fontSize: 16, color: 'rgba(23,33,31,0.66)', lineHeight: 1.6 }}&gt;&#10;                        它没有标签，但平台和经费跑在了很多有标签的高校前面——这是城市投入、产业需求、人才集聚一起作用的结果。&#10;                    &lt;/Text&gt;&#10;                &lt;/Box&gt;&#10;            &lt;/Box&gt;&#10;        &lt;/Animation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3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09600" y="609600"/>
            <a:ext cx="5915025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没有「双一流」标签，平台到了什么位置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数　据</a:t>
            </a:r>
            <a:endParaRPr/>
          </a:p>
        </p:txBody>
      </p:sp>
      <p:sp>
        <p:nvSpPr>
          <p:cNvPr id="25" name="矩形 24"/>
          <p:cNvSpPr/>
          <p:nvPr/>
        </p:nvSpPr>
        <p:spPr>
          <a:xfrm>
            <a:off x="609600" y="1143000"/>
            <a:ext cx="3543300" cy="339090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914400" y="1447800"/>
            <a:ext cx="2933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050" spc="150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软科中国大学排名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914400" y="1943100"/>
            <a:ext cx="2933700" cy="12382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100" b="1" spc="-225">
                <a:solidFill>
                  <a:srgbClr val="0B6B5B"/>
                </a:solidFill>
                <a:latin typeface="Arial"/>
                <a:ea typeface="Arial"/>
              </a:rPr>
              <a:t>66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914400" y="3505200"/>
            <a:ext cx="29337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7211F"/>
                </a:solidFill>
                <a:latin typeface="Microsoft YaHei"/>
                <a:ea typeface="Microsoft YaHei"/>
              </a:rPr>
              <a:t>非「双一流」高校中第</a:t>
            </a:r>
            <a:r>
              <a:rPr lang="en-US" sz="1650" b="1">
                <a:solidFill>
                  <a:srgbClr val="17211F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914400" y="3933825"/>
            <a:ext cx="2933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7211F">
                    <a:alpha val="52000"/>
                  </a:srgbClr>
                </a:solidFill>
                <a:latin typeface="Microsoft YaHei"/>
                <a:ea typeface="Microsoft YaHei"/>
              </a:rPr>
              <a:t>学科评估目前无</a:t>
            </a:r>
            <a:r>
              <a:rPr lang="en-US" sz="1200">
                <a:solidFill>
                  <a:srgbClr val="17211F">
                    <a:alpha val="52000"/>
                  </a:srgbClr>
                </a:solidFill>
                <a:latin typeface="Microsoft YaHei"/>
                <a:ea typeface="Microsoft YaHei"/>
              </a:rPr>
              <a:t> A </a:t>
            </a:r>
            <a:r>
              <a:rPr lang="zh-CN" sz="1200">
                <a:solidFill>
                  <a:srgbClr val="17211F">
                    <a:alpha val="52000"/>
                  </a:srgbClr>
                </a:solidFill>
                <a:latin typeface="Microsoft YaHei"/>
                <a:ea typeface="Microsoft YaHei"/>
              </a:rPr>
              <a:t>类，最高</a:t>
            </a:r>
            <a:r>
              <a:rPr lang="en-US" sz="1200">
                <a:solidFill>
                  <a:srgbClr val="17211F">
                    <a:alpha val="52000"/>
                  </a:srgbClr>
                </a:solidFill>
                <a:latin typeface="Microsoft YaHei"/>
                <a:ea typeface="Microsoft YaHei"/>
              </a:rPr>
              <a:t> B+</a:t>
            </a:r>
            <a:endParaRPr/>
          </a:p>
        </p:txBody>
      </p:sp>
      <p:sp>
        <p:nvSpPr>
          <p:cNvPr id="30" name="矩形 29"/>
          <p:cNvSpPr/>
          <p:nvPr/>
        </p:nvSpPr>
        <p:spPr>
          <a:xfrm>
            <a:off x="4381500" y="1143000"/>
            <a:ext cx="3486150" cy="158115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610100" y="1438275"/>
            <a:ext cx="3028950" cy="619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7211F"/>
                </a:solidFill>
                <a:latin typeface="Arial"/>
                <a:ea typeface="Arial"/>
              </a:rPr>
              <a:t>20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610100" y="2152650"/>
            <a:ext cx="3028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个学科进入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ESI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全球前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1%</a:t>
            </a:r>
            <a:endParaRPr/>
          </a:p>
        </p:txBody>
      </p:sp>
      <p:sp>
        <p:nvSpPr>
          <p:cNvPr id="33" name="矩形 32"/>
          <p:cNvSpPr/>
          <p:nvPr/>
        </p:nvSpPr>
        <p:spPr>
          <a:xfrm>
            <a:off x="8096250" y="1143000"/>
            <a:ext cx="3486150" cy="1724025"/>
          </a:xfrm>
          <a:prstGeom prst="rect">
            <a:avLst/>
          </a:prstGeom>
          <a:solidFill>
            <a:srgbClr val="E2542C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8324850" y="1371600"/>
            <a:ext cx="3028950" cy="619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E2542C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324850" y="2085975"/>
            <a:ext cx="3028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个学科进入全球前</a:t>
            </a:r>
            <a:r>
              <a:rPr lang="en-US" sz="1200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 1‰</a:t>
            </a:r>
            <a:r>
              <a:rPr lang="zh-CN" sz="1200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：工程、材料、计算机、化学</a:t>
            </a:r>
            <a:endParaRPr/>
          </a:p>
        </p:txBody>
      </p:sp>
      <p:sp>
        <p:nvSpPr>
          <p:cNvPr id="36" name="矩形 35"/>
          <p:cNvSpPr/>
          <p:nvPr/>
        </p:nvSpPr>
        <p:spPr>
          <a:xfrm>
            <a:off x="4381500" y="2952750"/>
            <a:ext cx="3486150" cy="1609725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4610100" y="3181350"/>
            <a:ext cx="302895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7211F"/>
                </a:solidFill>
                <a:latin typeface="Arial"/>
                <a:ea typeface="Arial"/>
              </a:rPr>
              <a:t>70.53 </a:t>
            </a:r>
            <a:r>
              <a:rPr lang="zh-CN" sz="3300" b="1">
                <a:solidFill>
                  <a:srgbClr val="17211F"/>
                </a:solidFill>
                <a:latin typeface="Arial"/>
                <a:ea typeface="Arial"/>
              </a:rPr>
              <a:t>亿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610100" y="3781425"/>
            <a:ext cx="3028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年部门预算，非「双一流」中连续多年居首</a:t>
            </a:r>
            <a:endParaRPr/>
          </a:p>
        </p:txBody>
      </p:sp>
      <p:sp>
        <p:nvSpPr>
          <p:cNvPr id="39" name="矩形 38"/>
          <p:cNvSpPr/>
          <p:nvPr/>
        </p:nvSpPr>
        <p:spPr>
          <a:xfrm>
            <a:off x="8096250" y="2952750"/>
            <a:ext cx="3486150" cy="158115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324850" y="3305175"/>
            <a:ext cx="302895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7211F"/>
                </a:solidFill>
                <a:latin typeface="Arial"/>
                <a:ea typeface="Arial"/>
              </a:rPr>
              <a:t>1 + 4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8324850" y="3905250"/>
            <a:ext cx="3028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牵头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个、参与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个全国重点实验室</a:t>
            </a:r>
            <a:endParaRPr/>
          </a:p>
        </p:txBody>
      </p:sp>
      <p:sp>
        <p:nvSpPr>
          <p:cNvPr id="42" name="矩形 41"/>
          <p:cNvSpPr/>
          <p:nvPr/>
        </p:nvSpPr>
        <p:spPr>
          <a:xfrm>
            <a:off x="609600" y="4762500"/>
            <a:ext cx="10972800" cy="1066800"/>
          </a:xfrm>
          <a:prstGeom prst="rect">
            <a:avLst/>
          </a:prstGeom>
          <a:solidFill>
            <a:srgbClr val="E2542C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矩形 42"/>
          <p:cNvSpPr/>
          <p:nvPr/>
        </p:nvSpPr>
        <p:spPr>
          <a:xfrm>
            <a:off x="609600" y="4762500"/>
            <a:ext cx="38100" cy="1066800"/>
          </a:xfrm>
          <a:prstGeom prst="rect">
            <a:avLst/>
          </a:prstGeom>
          <a:solidFill>
            <a:srgbClr val="E254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914400" y="5019675"/>
            <a:ext cx="78009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211F"/>
                </a:solidFill>
                <a:latin typeface="Microsoft YaHei"/>
                <a:ea typeface="Microsoft YaHei"/>
              </a:rPr>
              <a:t>所以这一页要客观地看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914400" y="5286375"/>
            <a:ext cx="78009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它没有标签，但平台和经费跑在了很多有标签的高校前面——这是城市投入、产业需求、人才集聚一起作用的结果。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深大的基因：务实，和一次被允许的试错&#10;        &lt;/Text&gt;&#10;        &lt;Text style={{ fontSize: 14, color: 'rgba(23,33,31,0.42)', letterSpacing: 3, paddingBottom: 8 }}&gt;缘　起&lt;/Text&gt;&#10;    &lt;/Box&gt;&#10;&#10;    &lt;Box style={{ height: 540, paddingLeft: 64, paddingRight: 64, flexDirection: 'column' }}&gt;&#10;&#10;        &lt;Box style={{ height: 326, flexDirection: 'row', gap: 56 }}&gt;&#10;&#10;            &lt;Animation animType=&quot;fadeIn&quot; startType=&quot;afterPrevious&quot; duration={600}&gt;&#10;                &lt;Box style={{ width: 400, flexDirection: 'column', justifyContent: 'flex-start' }}&gt;&#10;                    &lt;Text style={{ fontSize: 128, fontWeight: 'bold', fontFamily: 'Arial', color: '#0B6B5B', lineHeight: 1, letterSpacing: -4 }}&gt;1983&lt;/Text&gt;&#10;                    &lt;Text style={{ fontSize: 19, color: 'rgba(23,33,31,0.66)', lineHeight: 1.6, marginTop: 16 }}&gt;&#10;                        深圳经济特区创办第三年&#10;                    &lt;/Text&gt;&#10;                    &lt;Text style={{ fontSize: 19, color: 'rgba(23,33,31,0.66)', lineHeight: 1.6 }}&gt;&#10;                        经教育部批准设立&#10;                    &lt;/Text&gt;&#10;                    &lt;Text style={{ fontSize: 16, color: 'rgba(23,33,31,0.42)', lineHeight: 1.7, marginTop: 16 }}&gt;&#10;                        当时被称作「深圳速度」：&#10;                    &lt;/Text&gt;&#10;                    &lt;Text style={{ fontSize: 16, color: 'rgba(23,33,31,0.42)', lineHeight: 1.7 }}&gt;&#10;                        从筹备到开学，8 个月。&#10;                    &lt;/Text&gt;&#10;                &lt;/Box&gt;&#10;            &lt;/Animation&gt;&#10;&#10;            &lt;Animation animType=&quot;fadeIn&quot; startType=&quot;afterPrevious&quot; duration={550}&gt;&#10;                &lt;Box style={{ flex: 1, flexDirection: 'column' }}&gt;&#10;                    &lt;Text style={{ fontSize: 15, color: 'rgba(23,33,31,0.45)', letterSpacing: 1.5, marginBottom: 14 }}&gt;&#10;                        创校之初，三所学校南下援建&#10;                    &lt;/Text&gt;&#10;                    &lt;Box style={{ flexDirection: 'row', alignItems: 'center', paddingTop: 18, paddingBottom: 18, borderTop: '1px solid rgba(11,107,91,0.16)' }}&gt;&#10;                        &lt;Text style={{ fontSize: 21, fontWeight: 'bold', color: '#17211F', width: 200 }}&gt;北京大学&lt;/Text&gt;&#10;                        &lt;Text style={{ fontSize: 18, color: 'rgba(23,33,31,0.62)' }}&gt;援建中文、外语&lt;/Text&gt;&#10;                    &lt;/Box&gt;&#10;                    &lt;Box style={{ flexDirection: 'row', alignItems: 'center', paddingTop: 18, paddingBottom: 18, borderTop: '1px solid rgba(11,107,91,0.16)' }}&gt;&#10;                        &lt;Text style={{ fontSize: 21, fontWeight: 'bold', color: '#17211F', width: 200 }}&gt;清华大学&lt;/Text&gt;&#10;                        &lt;Text style={{ fontSize: 18, color: 'rgba(23,33,31,0.62)' }}&gt;援建电子、建筑&lt;/Text&gt;&#10;                    &lt;/Box&gt;&#10;                    &lt;Box style={{ flexDirection: 'row', alignItems: 'center', paddingTop: 18, paddingBottom: 18, borderTop: '1px solid rgba(11,107,91,0.16)' }}&gt;&#10;                        &lt;Text style={{ fontSize: 21, fontWeight: 'bold', color: '#17211F', width: 200 }}&gt;中国人民大学&lt;/Text&gt;&#10;                        &lt;Text style={{ fontSize: 18, color: 'rgba(23,33,31,0.62)' }}&gt;援建经济、法律&lt;/Text&gt;&#10;                    &lt;/Box&gt;&#10;                    &lt;Box style={{ flexDirection: 'row', alignItems: 'center', paddingTop: 18, borderTop: '1px solid rgba(11,107,91,0.16)' }}&gt;&#10;                        &lt;Text style={{ fontSize: 16, color: 'rgba(23,33,31,0.55)' }}&gt;一批知名学者南下参与建设&lt;/Text&gt;&#10;                    &lt;/Box&gt;&#10;                &lt;/Box&gt;&#10;            &lt;/Animation&gt;&#10;&#10;        &lt;/Box&gt;&#10;&#10;        &lt;Animation animType=&quot;fadeIn&quot; startType=&quot;afterPrevious&quot; duration={550}&gt;&#10;            &lt;Box style={{ height: 138, marginTop: 26, flexDirection: 'row', alignItems: 'center', background: 'rgba(11,107,91,0.08)', paddingLeft: 0, paddingRight: 0 }}&gt;&#10;                &lt;Box style={{ flex: 1, paddingLeft: 34, flexDirection: 'column', gap: 6 }}&gt;&#10;                    &lt;Text style={{ fontSize: 30, fontWeight: 'bold', fontFamily: 'Arial', color: '#0B6B5B', lineHeight: 1.1 }}&gt;1980&lt;/Text&gt;&#10;                    &lt;Text style={{ fontSize: 16, color: 'rgba(23,33,31,0.60)' }}&gt;深圳设经济特区&lt;/Text&gt;&#10;                &lt;/Box&gt;&#10;                &lt;Box style={{ flex: 1, paddingLeft: 34, flexDirection: 'column', gap: 6, borderLeft: '1px solid rgba(11,107,91,0.20)' }}&gt;&#10;                    &lt;Text style={{ fontSize: 30, fontWeight: 'bold', fontFamily: 'Arial', color: '#0B6B5B', lineHeight: 1.1 }}&gt;1983&lt;/Text&gt;&#10;                    &lt;Text style={{ fontSize: 16, color: 'rgba(23,33,31,0.60)' }}&gt;深圳大学成立，同年开学&lt;/Text&gt;&#10;                &lt;/Box&gt;&#10;                &lt;Box style={{ flex: 1, paddingLeft: 34, flexDirection: 'column', gap: 6, borderLeft: '1px solid rgba(11,107,91,0.20)' }}&gt;&#10;                    &lt;Text style={{ fontSize: 30, fontWeight: 'bold', fontFamily: 'Arial', color: '#E2542C', lineHeight: 1.1 }}&gt;8 个月&lt;/Text&gt;&#10;                    &lt;Text style={{ fontSize: 16, color: 'rgba(23,33,31,0.60)' }}&gt;从筹备到第一批学生&lt;/Text&gt;&#10;                &lt;/Box&gt;&#10;            &lt;/Box&gt;&#10;        &lt;/Animation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2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09600" y="609600"/>
            <a:ext cx="5915025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深大的基因：务实，和一次被允许的试错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缘　起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9600" y="1143000"/>
            <a:ext cx="3810000" cy="1466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600" b="1" spc="-300">
                <a:solidFill>
                  <a:srgbClr val="0B6B5B"/>
                </a:solidFill>
                <a:latin typeface="Arial"/>
                <a:ea typeface="Arial"/>
              </a:rPr>
              <a:t>1983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609600" y="2762250"/>
            <a:ext cx="38100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深圳经济特区创办第三年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09600" y="3114675"/>
            <a:ext cx="38100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经教育部批准设立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09600" y="3619500"/>
            <a:ext cx="38100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当时被称作「深圳速度」：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09600" y="3933825"/>
            <a:ext cx="38100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从筹备到开学，</a:t>
            </a:r>
            <a:r>
              <a:rPr lang="en-US" sz="1200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8 </a:t>
            </a:r>
            <a:r>
              <a:rPr lang="zh-CN" sz="1200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个月。</a:t>
            </a:r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953000" y="1143000"/>
            <a:ext cx="6629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13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创校之初，三所学校南下援建</a:t>
            </a:r>
            <a:endParaRPr/>
          </a:p>
        </p:txBody>
      </p:sp>
      <p:sp>
        <p:nvSpPr>
          <p:cNvPr id="58" name="任意多边形: 形状 57"/>
          <p:cNvSpPr/>
          <p:nvPr/>
        </p:nvSpPr>
        <p:spPr>
          <a:xfrm>
            <a:off x="4953000" y="1447800"/>
            <a:ext cx="6629400" cy="609600"/>
          </a:xfrm>
          <a:custGeom>
            <a:avLst/>
            <a:gdLst/>
            <a:ahLst/>
            <a:cxnLst/>
            <a:rect l="0" t="0" r="0" b="0"/>
            <a:pathLst>
              <a:path w="696" h="64">
                <a:moveTo>
                  <a:pt x="0" y="0"/>
                </a:moveTo>
                <a:lnTo>
                  <a:pt x="696" y="0"/>
                </a:lnTo>
                <a:lnTo>
                  <a:pt x="69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4953000" y="1628775"/>
            <a:ext cx="1905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7211F"/>
                </a:solidFill>
                <a:latin typeface="Microsoft YaHei"/>
                <a:ea typeface="Microsoft YaHei"/>
              </a:rPr>
              <a:t>北京大学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858000" y="1647825"/>
            <a:ext cx="1200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7211F">
                    <a:alpha val="62000"/>
                  </a:srgbClr>
                </a:solidFill>
                <a:latin typeface="Microsoft YaHei"/>
                <a:ea typeface="Microsoft YaHei"/>
              </a:rPr>
              <a:t>援建中文、外语</a:t>
            </a:r>
            <a:endParaRPr/>
          </a:p>
        </p:txBody>
      </p:sp>
      <p:sp>
        <p:nvSpPr>
          <p:cNvPr id="61" name="任意多边形: 形状 60"/>
          <p:cNvSpPr/>
          <p:nvPr/>
        </p:nvSpPr>
        <p:spPr>
          <a:xfrm>
            <a:off x="4953000" y="2047875"/>
            <a:ext cx="6629400" cy="609600"/>
          </a:xfrm>
          <a:custGeom>
            <a:avLst/>
            <a:gdLst/>
            <a:ahLst/>
            <a:cxnLst/>
            <a:rect l="0" t="0" r="0" b="0"/>
            <a:pathLst>
              <a:path w="696" h="64">
                <a:moveTo>
                  <a:pt x="0" y="0"/>
                </a:moveTo>
                <a:lnTo>
                  <a:pt x="696" y="0"/>
                </a:lnTo>
                <a:lnTo>
                  <a:pt x="69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4953000" y="2228850"/>
            <a:ext cx="1905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7211F"/>
                </a:solidFill>
                <a:latin typeface="Microsoft YaHei"/>
                <a:ea typeface="Microsoft YaHei"/>
              </a:rPr>
              <a:t>清华大学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858000" y="2247900"/>
            <a:ext cx="1200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7211F">
                    <a:alpha val="62000"/>
                  </a:srgbClr>
                </a:solidFill>
                <a:latin typeface="Microsoft YaHei"/>
                <a:ea typeface="Microsoft YaHei"/>
              </a:rPr>
              <a:t>援建电子、建筑</a:t>
            </a:r>
            <a:endParaRPr/>
          </a:p>
        </p:txBody>
      </p:sp>
      <p:sp>
        <p:nvSpPr>
          <p:cNvPr id="64" name="任意多边形: 形状 63"/>
          <p:cNvSpPr/>
          <p:nvPr/>
        </p:nvSpPr>
        <p:spPr>
          <a:xfrm>
            <a:off x="4953000" y="2647950"/>
            <a:ext cx="6629400" cy="609600"/>
          </a:xfrm>
          <a:custGeom>
            <a:avLst/>
            <a:gdLst/>
            <a:ahLst/>
            <a:cxnLst/>
            <a:rect l="0" t="0" r="0" b="0"/>
            <a:pathLst>
              <a:path w="696" h="64">
                <a:moveTo>
                  <a:pt x="0" y="0"/>
                </a:moveTo>
                <a:lnTo>
                  <a:pt x="696" y="0"/>
                </a:lnTo>
                <a:lnTo>
                  <a:pt x="69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4953000" y="2828925"/>
            <a:ext cx="1905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7211F"/>
                </a:solidFill>
                <a:latin typeface="Microsoft YaHei"/>
                <a:ea typeface="Microsoft YaHei"/>
              </a:rPr>
              <a:t>中国人民大学</a:t>
            </a:r>
            <a:endParaRPr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6858000" y="2847975"/>
            <a:ext cx="1200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7211F">
                    <a:alpha val="62000"/>
                  </a:srgbClr>
                </a:solidFill>
                <a:latin typeface="Microsoft YaHei"/>
                <a:ea typeface="Microsoft YaHei"/>
              </a:rPr>
              <a:t>援建经济、法律</a:t>
            </a:r>
            <a:endParaRPr/>
          </a:p>
        </p:txBody>
      </p:sp>
      <p:sp>
        <p:nvSpPr>
          <p:cNvPr id="67" name="任意多边形: 形状 66"/>
          <p:cNvSpPr/>
          <p:nvPr/>
        </p:nvSpPr>
        <p:spPr>
          <a:xfrm>
            <a:off x="4953000" y="3248025"/>
            <a:ext cx="6629400" cy="381000"/>
          </a:xfrm>
          <a:custGeom>
            <a:avLst/>
            <a:gdLst/>
            <a:ahLst/>
            <a:cxnLst/>
            <a:rect l="0" t="0" r="0" b="0"/>
            <a:pathLst>
              <a:path w="696" h="40">
                <a:moveTo>
                  <a:pt x="0" y="0"/>
                </a:moveTo>
                <a:lnTo>
                  <a:pt x="696" y="0"/>
                </a:lnTo>
                <a:lnTo>
                  <a:pt x="69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4953000" y="3429000"/>
            <a:ext cx="1828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7211F">
                    <a:alpha val="55000"/>
                  </a:srgbClr>
                </a:solidFill>
                <a:latin typeface="Microsoft YaHei"/>
                <a:ea typeface="Microsoft YaHei"/>
              </a:rPr>
              <a:t>一批知名学者南下参与建设</a:t>
            </a:r>
            <a:endParaRPr/>
          </a:p>
        </p:txBody>
      </p:sp>
      <p:sp>
        <p:nvSpPr>
          <p:cNvPr id="69" name="矩形 68"/>
          <p:cNvSpPr/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933450" y="4838700"/>
            <a:ext cx="333375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0B6B5B"/>
                </a:solidFill>
                <a:latin typeface="Arial"/>
                <a:ea typeface="Arial"/>
              </a:rPr>
              <a:t>1980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33450" y="5276850"/>
            <a:ext cx="3333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深圳设经济特区</a:t>
            </a:r>
            <a:endParaRPr/>
          </a:p>
        </p:txBody>
      </p:sp>
      <p:sp>
        <p:nvSpPr>
          <p:cNvPr id="72" name="任意多边形: 形状 71"/>
          <p:cNvSpPr/>
          <p:nvPr/>
        </p:nvSpPr>
        <p:spPr>
          <a:xfrm>
            <a:off x="4267200" y="4838700"/>
            <a:ext cx="3667125" cy="628650"/>
          </a:xfrm>
          <a:custGeom>
            <a:avLst/>
            <a:gdLst/>
            <a:ahLst/>
            <a:cxnLst/>
            <a:rect l="0" t="0" r="0" b="0"/>
            <a:pathLst>
              <a:path w="385" h="66">
                <a:moveTo>
                  <a:pt x="0" y="0"/>
                </a:moveTo>
                <a:lnTo>
                  <a:pt x="1" y="0"/>
                </a:lnTo>
                <a:lnTo>
                  <a:pt x="1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B6B5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4600575" y="4838700"/>
            <a:ext cx="332422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0B6B5B"/>
                </a:solidFill>
                <a:latin typeface="Arial"/>
                <a:ea typeface="Arial"/>
              </a:rPr>
              <a:t>1983</a:t>
            </a:r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4600575" y="5276850"/>
            <a:ext cx="33242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深圳大学成立，同年开学</a:t>
            </a:r>
            <a:endParaRPr/>
          </a:p>
        </p:txBody>
      </p:sp>
      <p:sp>
        <p:nvSpPr>
          <p:cNvPr id="75" name="任意多边形: 形状 74"/>
          <p:cNvSpPr/>
          <p:nvPr/>
        </p:nvSpPr>
        <p:spPr>
          <a:xfrm>
            <a:off x="7924800" y="4838700"/>
            <a:ext cx="3667125" cy="628650"/>
          </a:xfrm>
          <a:custGeom>
            <a:avLst/>
            <a:gdLst/>
            <a:ahLst/>
            <a:cxnLst/>
            <a:rect l="0" t="0" r="0" b="0"/>
            <a:pathLst>
              <a:path w="385" h="66">
                <a:moveTo>
                  <a:pt x="0" y="0"/>
                </a:moveTo>
                <a:lnTo>
                  <a:pt x="1" y="0"/>
                </a:lnTo>
                <a:lnTo>
                  <a:pt x="1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B6B5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258175" y="4838700"/>
            <a:ext cx="332422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E2542C"/>
                </a:solidFill>
                <a:latin typeface="Arial"/>
                <a:ea typeface="Arial"/>
              </a:rPr>
              <a:t>8 </a:t>
            </a:r>
            <a:r>
              <a:rPr lang="zh-CN" sz="2250" b="1">
                <a:solidFill>
                  <a:srgbClr val="E2542C"/>
                </a:solidFill>
                <a:latin typeface="Arial"/>
                <a:ea typeface="Arial"/>
              </a:rPr>
              <a:t>个月</a:t>
            </a:r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8258175" y="5276850"/>
            <a:ext cx="33242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从筹备到第一批学生</a:t>
            </a:r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把「选错专业」的代价降下来&#10;        &lt;/Text&gt;&#10;        &lt;Text style={{ fontSize: 14, color: 'rgba(23,33,31,0.42)', letterSpacing: 3, paddingBottom: 8 }}&gt;机　制&lt;/Text&gt;&#10;    &lt;/Box&gt;&#10;&#10;    &lt;Box style={{ height: 540, paddingLeft: 64, paddingRight: 64, flexDirection: 'row', gap: 28 }}&gt;&#10;&#10;        &lt;Animation animType=&quot;fadeIn&quot; startType=&quot;afterPrevious&quot; duration={650}&gt;&#10;            &lt;Box style={{ width: 620, background: 'linear-gradient(135deg, #0B6B5B 0%, rgba(11,107,91,0.82) 100%)', padding: 34, flexDirection: 'column', justifyContent: 'space-between' }}&gt;&#10;                &lt;Box style={{ flexDirection: 'column' }}&gt;&#10;                    &lt;Text style={{ fontSize: 14, color: 'rgba(251,249,244,0.55)', letterSpacing: 3 }}&gt;机制 01&lt;/Text&gt;&#10;                    &lt;Text style={{ fontSize: 26, fontWeight: 'bold', color: '#FBF9F4', lineHeight: 1.45, marginTop: 12 }}&gt;&#10;                        转专业：转出无门槛，转入要考核&#10;                    &lt;/Text&gt;&#10;                    &lt;Text style={{ fontSize: 17, color: 'rgba(251,249,244,0.66)', lineHeight: 1.7, marginTop: 10 }}&gt;&#10;                        不需要在 18 岁把未来四年锁死。机会给到你，但要靠本事接住。&#10;                    &lt;/Text&gt;&#10;                &lt;/Box&gt;&#10;&#10;                &lt;Box style={{ flexDirection: 'row', gap: 44 }}&gt;&#10;                    &lt;Box style={{ flexDirection: 'column' }}&gt;&#10;                        &lt;Text style={{ fontSize: 68, fontWeight: 'bold', fontFamily: 'Arial', color: '#FBF9F4', lineHeight: 1 }}&gt;40%&lt;/Text&gt;&#10;                        &lt;Text style={{ fontSize: 15, color: 'rgba(251,249,244,0.60)', marginTop: 10 }}&gt;近两年整体成功率&lt;/Text&gt;&#10;                    &lt;/Box&gt;&#10;                    &lt;Box style={{ flexDirection: 'column' }}&gt;&#10;                        &lt;Text style={{ fontSize: 68, fontWeight: 'bold', fontFamily: 'Arial', color: '#FBF9F4', lineHeight: 1 }}&gt;1442&lt;/Text&gt;&#10;                        &lt;Text style={{ fontSize: 15, color: 'rgba(251,249,244,0.60)', marginTop: 10 }}&gt;2025 年接收名额&lt;/Text&gt;&#10;                    &lt;/Box&gt;&#10;                &lt;/Box&gt;&#10;&#10;                &lt;Box style={{ flexDirection: 'row', alignItems: 'center', gap: 12 }}&gt;&#10;                    &lt;Box style={{ background: 'rgba(251,249,244,0.14)', paddingTop: 8, paddingBottom: 8, paddingLeft: 16, paddingRight: 16 }}&gt;&#10;                        &lt;Text style={{ fontSize: 15, color: '#FBF9F4' }}&gt;申请转出&lt;/Text&gt;&#10;                    &lt;/Box&gt;&#10;                    &lt;Text style={{ fontSize: 15, color: 'rgba(251,249,244,0.55)' }}&gt;→&lt;/Text&gt;&#10;                    &lt;Box style={{ background: 'rgba(251,249,244,0.14)', paddingTop: 8, paddingBottom: 8, paddingLeft: 16, paddingRight: 16 }}&gt;&#10;                        &lt;Text style={{ fontSize: 15, color: '#FBF9F4' }}&gt;院系考核&lt;/Text&gt;&#10;                    &lt;/Box&gt;&#10;                    &lt;Text style={{ fontSize: 15, color: 'rgba(251,249,244,0.55)' }}&gt;→&lt;/Text&gt;&#10;                    &lt;Box style={{ background: 'rgba(251,249,244,0.14)', paddingTop: 8, paddingBottom: 8, paddingLeft: 16, paddingRight: 16 }}&gt;&#10;                        &lt;Text style={{ fontSize: 15, color: '#FBF9F4' }}&gt;录取&lt;/Text&gt;&#10;                    &lt;/Box&gt;&#10;                &lt;/Box&gt;&#10;&#10;                &lt;Text style={{ fontSize: 15, color: 'rgba(251,249,244,0.50)', lineHeight: 1.7 }}&gt;&#10;                    未申请预毕业均可申请，大一为主，大二、大三也有机会。&#10;                &lt;/Text&gt;&#10;            &lt;/Box&gt;&#10;        &lt;/Animation&gt;&#10;&#10;        &lt;Box style={{ flex: 1, flexDirection: 'column', gap: 28 }}&gt;&#10;&#10;            &lt;Animation animType=&quot;fadeIn&quot; startType=&quot;afterPrevious&quot; duration={500}&gt;&#10;                &lt;Box style={{ height: 256, background: 'rgba(11,107,91,0.08)', padding: 28, flexDirection: 'column', justifyContent: 'space-between' }}&gt;&#10;                    &lt;Text style={{ fontSize: 14, color: 'rgba(23,33,31,0.45)', letterSpacing: 3 }}&gt;机制 02&lt;/Text&gt;&#10;                    &lt;Box style={{ flexDirection: 'row', alignItems: 'flex-end', gap: 12 }}&gt;&#10;                        &lt;Text style={{ fontSize: 52, fontWeight: 'bold', fontFamily: 'Arial', color: '#0B6B5B', lineHeight: 1 }}&gt;6&lt;/Text&gt;&#10;                        &lt;Text style={{ fontSize: 19, color: 'rgba(23,33,31,0.70)', lineHeight: 1.4, paddingBottom: 4 }}&gt;个院士班&lt;/Text&gt;&#10;                    &lt;/Box&gt;&#10;                    &lt;Text style={{ fontSize: 16, color: 'rgba(23,33,31,0.66)', lineHeight: 1.7 }}&gt;&#10;                        40 余个特色实验班，院士任班主任或首席教授，高考直招，大一可进科创训练营。&#10;                    &lt;/Text&gt;&#10;                &lt;/Box&gt;&#10;            &lt;/Animation&gt;&#10;&#10;            &lt;Animation animType=&quot;fadeIn&quot; startType=&quot;afterPrevious&quot; duration={500}&gt;&#10;                &lt;Box style={{ height: 256, background: 'rgba(11,107,91,0.08)', padding: 28, flexDirection: 'column', justifyContent: 'space-between' }}&gt;&#10;                    &lt;Text style={{ fontSize: 14, color: 'rgba(23,33,31,0.45)', letterSpacing: 3 }}&gt;机制 03&lt;/Text&gt;&#10;                    &lt;Box style={{ flexDirection: 'row', alignItems: 'flex-end', gap: 12 }}&gt;&#10;                        &lt;Text style={{ fontSize: 52, fontWeight: 'bold', fontFamily: 'Arial', color: '#0B6B5B', lineHeight: 1 }}&gt;8&lt;/Text&gt;&#10;                        &lt;Text style={{ fontSize: 19, color: 'rgba(23,33,31,0.70)', lineHeight: 1.4, paddingBottom: 4 }}&gt;个 AI+ 双学位&lt;/Text&gt;&#10;                    &lt;/Box&gt;&#10;                    &lt;Text style={{ fontSize: 16, color: 'rgba(23,33,31,0.66)', lineHeight: 1.7 }}&gt;&#10;                        2026 年新增 8 个双学士学位项目，其中 6 个为「AI+」方向：英语+人工智能、法学+人工智能。&#10;                    &lt;/Text&gt;&#10;                &lt;/Box&gt;&#10;            &lt;/Animation&gt;&#10;&#10;        &lt;/Box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4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609600" y="609600"/>
            <a:ext cx="4276725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把「选错专业」的代价降下来</a:t>
            </a:r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机　制</a:t>
            </a:r>
            <a:endParaRPr/>
          </a:p>
        </p:txBody>
      </p:sp>
      <p:sp>
        <p:nvSpPr>
          <p:cNvPr id="84" name="矩形 83"/>
          <p:cNvSpPr/>
          <p:nvPr/>
        </p:nvSpPr>
        <p:spPr>
          <a:xfrm>
            <a:off x="609600" y="1143000"/>
            <a:ext cx="5905500" cy="5143500"/>
          </a:xfrm>
          <a:prstGeom prst="rect">
            <a:avLst/>
          </a:prstGeom>
          <a:gradFill>
            <a:gsLst>
              <a:gs pos="0">
                <a:srgbClr val="0B6B5B"/>
              </a:gs>
              <a:gs pos="100000">
                <a:srgbClr val="0B6B5B">
                  <a:alpha val="82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933450" y="1466850"/>
            <a:ext cx="5257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机制</a:t>
            </a:r>
            <a:r>
              <a:rPr lang="en-US" sz="1050" spc="22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933450" y="1743075"/>
            <a:ext cx="52578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FBF9F4"/>
                </a:solidFill>
                <a:latin typeface="Microsoft YaHei"/>
                <a:ea typeface="Microsoft YaHei"/>
              </a:rPr>
              <a:t>转专业：转出无门槛，转入要考核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933450" y="2276475"/>
            <a:ext cx="5257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BF9F4">
                    <a:alpha val="66000"/>
                  </a:srgbClr>
                </a:solidFill>
                <a:latin typeface="Microsoft YaHei"/>
                <a:ea typeface="Microsoft YaHei"/>
              </a:rPr>
              <a:t>不需要在</a:t>
            </a:r>
            <a:r>
              <a:rPr lang="en-US" sz="1275">
                <a:solidFill>
                  <a:srgbClr val="FBF9F4">
                    <a:alpha val="66000"/>
                  </a:srgbClr>
                </a:solidFill>
                <a:latin typeface="Microsoft YaHei"/>
                <a:ea typeface="Microsoft YaHei"/>
              </a:rPr>
              <a:t> 18 </a:t>
            </a:r>
            <a:r>
              <a:rPr lang="zh-CN" sz="1275">
                <a:solidFill>
                  <a:srgbClr val="FBF9F4">
                    <a:alpha val="66000"/>
                  </a:srgbClr>
                </a:solidFill>
                <a:latin typeface="Microsoft YaHei"/>
                <a:ea typeface="Microsoft YaHei"/>
              </a:rPr>
              <a:t>岁把未来四年锁死。机会给到你，但要靠本事接住。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933450" y="3171825"/>
            <a:ext cx="1304925" cy="781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BF9F4"/>
                </a:solidFill>
                <a:latin typeface="Arial"/>
                <a:ea typeface="Arial"/>
              </a:rPr>
              <a:t>40%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933450" y="4048125"/>
            <a:ext cx="1304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BF9F4">
                    <a:alpha val="60000"/>
                  </a:srgbClr>
                </a:solidFill>
                <a:latin typeface="Microsoft YaHei"/>
                <a:ea typeface="Microsoft YaHei"/>
              </a:rPr>
              <a:t>近两年整体成功率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2657475" y="3171825"/>
            <a:ext cx="1447800" cy="781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BF9F4"/>
                </a:solidFill>
                <a:latin typeface="Arial"/>
                <a:ea typeface="Arial"/>
              </a:rPr>
              <a:t>1442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657475" y="4048125"/>
            <a:ext cx="1447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BF9F4">
                    <a:alpha val="60000"/>
                  </a:srgbClr>
                </a:solidFill>
                <a:latin typeface="Microsoft YaHei"/>
                <a:ea typeface="Microsoft YaHei"/>
              </a:rPr>
              <a:t>2025 </a:t>
            </a:r>
            <a:r>
              <a:rPr lang="zh-CN" sz="1125">
                <a:solidFill>
                  <a:srgbClr val="FBF9F4">
                    <a:alpha val="60000"/>
                  </a:srgbClr>
                </a:solidFill>
                <a:latin typeface="Microsoft YaHei"/>
                <a:ea typeface="Microsoft YaHei"/>
              </a:rPr>
              <a:t>年接收名额</a:t>
            </a:r>
            <a:endParaRPr/>
          </a:p>
        </p:txBody>
      </p:sp>
      <p:sp>
        <p:nvSpPr>
          <p:cNvPr id="92" name="矩形 91"/>
          <p:cNvSpPr/>
          <p:nvPr/>
        </p:nvSpPr>
        <p:spPr>
          <a:xfrm>
            <a:off x="933450" y="4781550"/>
            <a:ext cx="876300" cy="323850"/>
          </a:xfrm>
          <a:prstGeom prst="rect">
            <a:avLst/>
          </a:prstGeom>
          <a:solidFill>
            <a:srgbClr val="FBF9F4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085850" y="48577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BF9F4"/>
                </a:solidFill>
                <a:latin typeface="Microsoft YaHei"/>
                <a:ea typeface="Microsoft YaHei"/>
              </a:rPr>
              <a:t>申请转出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924050" y="4857750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5" name="矩形 94"/>
          <p:cNvSpPr/>
          <p:nvPr/>
        </p:nvSpPr>
        <p:spPr>
          <a:xfrm>
            <a:off x="2181225" y="4781550"/>
            <a:ext cx="876300" cy="323850"/>
          </a:xfrm>
          <a:prstGeom prst="rect">
            <a:avLst/>
          </a:prstGeom>
          <a:solidFill>
            <a:srgbClr val="FBF9F4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2333625" y="48577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BF9F4"/>
                </a:solidFill>
                <a:latin typeface="Microsoft YaHei"/>
                <a:ea typeface="Microsoft YaHei"/>
              </a:rPr>
              <a:t>院系考核</a:t>
            </a:r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3171825" y="4857750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" name="矩形 97"/>
          <p:cNvSpPr/>
          <p:nvPr/>
        </p:nvSpPr>
        <p:spPr>
          <a:xfrm>
            <a:off x="3429000" y="4781550"/>
            <a:ext cx="590550" cy="323850"/>
          </a:xfrm>
          <a:prstGeom prst="rect">
            <a:avLst/>
          </a:prstGeom>
          <a:solidFill>
            <a:srgbClr val="FBF9F4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3581400" y="4857750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BF9F4"/>
                </a:solidFill>
                <a:latin typeface="Microsoft YaHei"/>
                <a:ea typeface="Microsoft YaHei"/>
              </a:rPr>
              <a:t>录取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933450" y="5667375"/>
            <a:ext cx="52578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125">
                <a:solidFill>
                  <a:srgbClr val="FBF9F4">
                    <a:alpha val="50000"/>
                  </a:srgbClr>
                </a:solidFill>
                <a:latin typeface="Microsoft YaHei"/>
                <a:ea typeface="Microsoft YaHei"/>
              </a:rPr>
              <a:t>未申请预毕业均可申请，大一为主，大二、大三也有机会。</a:t>
            </a:r>
            <a:endParaRPr/>
          </a:p>
        </p:txBody>
      </p:sp>
      <p:sp>
        <p:nvSpPr>
          <p:cNvPr id="101" name="矩形 100"/>
          <p:cNvSpPr/>
          <p:nvPr/>
        </p:nvSpPr>
        <p:spPr>
          <a:xfrm>
            <a:off x="6781800" y="1143000"/>
            <a:ext cx="4800600" cy="243840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048500" y="1409700"/>
            <a:ext cx="426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机制</a:t>
            </a:r>
            <a:r>
              <a:rPr lang="en-US" sz="1050" spc="225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 02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048500" y="1828800"/>
            <a:ext cx="276225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B6B5B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439025" y="2085975"/>
            <a:ext cx="723900" cy="342900"/>
          </a:xfrm>
          <a:prstGeom prst="rect">
            <a:avLst/>
          </a:prstGeom>
        </p:spPr>
        <p:txBody>
          <a:bodyPr wrap="none" lIns="0" tIns="0" rIns="0" bIns="28575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个院士班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048500" y="2686050"/>
            <a:ext cx="42672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40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余个特色实验班，院士任班主任或首席教授，高考直招，大一可进科创训练营。</a:t>
            </a:r>
            <a:endParaRPr/>
          </a:p>
        </p:txBody>
      </p:sp>
      <p:sp>
        <p:nvSpPr>
          <p:cNvPr id="106" name="矩形 105"/>
          <p:cNvSpPr/>
          <p:nvPr/>
        </p:nvSpPr>
        <p:spPr>
          <a:xfrm>
            <a:off x="6781800" y="3848100"/>
            <a:ext cx="4800600" cy="2438400"/>
          </a:xfrm>
          <a:prstGeom prst="rect">
            <a:avLst/>
          </a:prstGeom>
          <a:solidFill>
            <a:srgbClr val="0B6B5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048500" y="4114800"/>
            <a:ext cx="426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机制</a:t>
            </a:r>
            <a:r>
              <a:rPr lang="en-US" sz="1050" spc="225">
                <a:solidFill>
                  <a:srgbClr val="17211F">
                    <a:alpha val="45000"/>
                  </a:srgbClr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048500" y="4533900"/>
            <a:ext cx="276225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B6B5B"/>
                </a:solidFill>
                <a:latin typeface="Arial"/>
                <a:ea typeface="Arial"/>
              </a:rPr>
              <a:t>8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439025" y="4791075"/>
            <a:ext cx="1152525" cy="342900"/>
          </a:xfrm>
          <a:prstGeom prst="rect">
            <a:avLst/>
          </a:prstGeom>
        </p:spPr>
        <p:txBody>
          <a:bodyPr wrap="none" lIns="0" tIns="0" rIns="0" bIns="28575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个</a:t>
            </a:r>
            <a:r>
              <a:rPr lang="en-US" sz="1425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 AI+ </a:t>
            </a:r>
            <a:r>
              <a:rPr lang="zh-CN" sz="1425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双学位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048500" y="5391150"/>
            <a:ext cx="42672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年新增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个双学士学位项目，其中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个为「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AI+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」方向：英语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人工智能、法学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人工智能。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实习资源，是长在校园旁边的&#10;        &lt;/Text&gt;&#10;        &lt;Text style={{ fontSize: 14, color: 'rgba(23,33,31,0.42)', letterSpacing: 3, paddingBottom: 8 }}&gt;区　位&lt;/Text&gt;&#10;    &lt;/Box&gt;&#10;&#10;    &lt;Box style={{ height: 540, paddingLeft: 64, paddingRight: 64, flexDirection: 'column' }}&gt;&#10;&#10;        &lt;Box style={{ height: 372, flexDirection: 'row', gap: 40 }}&gt;&#10;&#10;            &lt;Animation animType=&quot;fadeIn&quot; startType=&quot;afterPrevious&quot; duration={650}&gt;&#10;                &lt;Box style={{ width: 470, height: 372, overflow: 'hidden' }}&gt;&#10;                    &lt;Image src=&quot;assets/tech_park.jpg&quot; style={{ width: 470, height: 372, objectFit: 'cover' }} /&gt;&#10;                &lt;/Box&gt;&#10;            &lt;/Animation&gt;&#10;&#10;            &lt;Animation animType=&quot;fadeIn&quot; startType=&quot;afterPrevious&quot; duration={550}&gt;&#10;                &lt;Box style={{ flex: 1, flexDirection: 'column', justifyContent: 'space-between' }}&gt;&#10;                    &lt;Box style={{ flexDirection: 'row', alignItems: 'baseline', gap: 18, paddingBottom: 16, borderBottom: '1px solid rgba(11,107,91,0.16)' }}&gt;&#10;                        &lt;Text style={{ fontSize: 44, fontWeight: 'bold', fontFamily: 'Arial', color: '#0B6B5B', lineHeight: 1, width: 132 }}&gt;3 公里&lt;/Text&gt;&#10;                        &lt;Text style={{ fontSize: 17, color: 'rgba(23,33,31,0.66)', lineHeight: 1.5, flex: 1 }}&gt;&#10;                            粤海校区在深圳南山，腾讯、大疆、中兴的国际总部在这个半径内&#10;                        &lt;/Text&gt;&#10;                    &lt;/Box&gt;&#10;                    &lt;Box style={{ flexDirection: 'row', alignItems: 'baseline', gap: 18, paddingBottom: 16, borderBottom: '1px solid rgba(11,107,91,0.16)' }}&gt;&#10;                        &lt;Text style={{ fontSize: 44, fontWeight: 'bold', fontFamily: 'Arial', color: '#0B6B5B', lineHeight: 1, width: 132 }}&gt;200+&lt;/Text&gt;&#10;                        &lt;Text style={{ fontSize: 17, color: 'rgba(23,33,31,0.66)', lineHeight: 1.5, flex: 1 }}&gt;&#10;                            家上市公司云集在校园周边，大二大三就能做日常实习&#10;                        &lt;/Text&gt;&#10;                    &lt;/Box&gt;&#10;                    &lt;Box style={{ flexDirection: 'row', alignItems: 'baseline', gap: 18, paddingBottom: 16, borderBottom: '1px solid rgba(11,107,91,0.16)' }}&gt;&#10;                        &lt;Text style={{ fontSize: 44, fontWeight: 'bold', fontFamily: 'Arial', color: '#0B6B5B', lineHeight: 1, width: 132 }}&gt;610+&lt;/Text&gt;&#10;                        &lt;Text style={{ fontSize: 17, color: 'rgba(23,33,31,0.66)', lineHeight: 1.5, flex: 1 }}&gt;&#10;                            个创新实践基地，与腾讯、华为等企业共建&#10;                        &lt;/Text&gt;&#10;                    &lt;/Box&gt;&#10;                    &lt;Box style={{ flexDirection: 'row', alignItems: 'baseline', gap: 18 }}&gt;&#10;                        &lt;Text style={{ fontSize: 40, fontWeight: 'bold', fontFamily: 'Arial', color: '#0B6B5B', lineHeight: 1, width: 132 }}&gt;四成以上&lt;/Text&gt;&#10;                        &lt;Text style={{ fontSize: 17, color: 'rgba(23,33,31,0.66)', lineHeight: 1.5, flex: 1 }}&gt;&#10;                            企业就业毕业生入职世界 500 强；录用最多的是比亚迪、华为、新凯来、腾讯&#10;                        &lt;/Text&gt;&#10;                    &lt;/Box&gt;&#10;                &lt;/Box&gt;&#10;            &lt;/Animation&gt;&#10;&#10;        &lt;/Box&gt;&#10;&#10;        &lt;Animation animType=&quot;fadeIn&quot; startType=&quot;afterPrevious&quot; duration={500}&gt;&#10;            &lt;Box style={{ height: 112, marginTop: 26, flexDirection: 'row', alignItems: 'center', background: 'rgba(226,84,44,0.10)' }}&gt;&#10;                &lt;Box style={{ width: 4, height: 112, background: '#E2542C' }} /&gt;&#10;                &lt;Box style={{ paddingLeft: 28, paddingRight: 28, flexDirection: 'column', gap: 6 }}&gt;&#10;                    &lt;Text style={{ fontSize: 18, fontWeight: 'bold', color: '#17211F' }}&gt;但这一页必须把话说全&lt;/Text&gt;&#10;                    &lt;Text style={{ fontSize: 16, color: 'rgba(23,33,31,0.66)', lineHeight: 1.6 }}&gt;&#10;                        优势高度集中在大湾区，出省后认可度明显下降；普通专业保研率仅约 5%（2025 届整体读研率 31.65%），想走推免读研，通道比同分段 211 窄。&#10;                    &lt;/Text&gt;&#10;                &lt;/Box&gt;&#10;            &lt;/Box&gt;&#10;        &lt;/Animation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5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09600" y="609600"/>
            <a:ext cx="4276725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实习资源，是长在校园旁边的</a:t>
            </a:r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区　位</a:t>
            </a:r>
            <a:endParaRPr/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4476750" cy="3543300"/>
          </a:xfrm>
          <a:prstGeom prst="rect">
            <a:avLst/>
          </a:prstGeom>
          <a:ln/>
        </p:spPr>
      </p:pic>
      <p:sp>
        <p:nvSpPr>
          <p:cNvPr id="118" name="任意多边形: 形状 117"/>
          <p:cNvSpPr/>
          <p:nvPr/>
        </p:nvSpPr>
        <p:spPr>
          <a:xfrm>
            <a:off x="5467350" y="1143000"/>
            <a:ext cx="6115050" cy="762000"/>
          </a:xfrm>
          <a:custGeom>
            <a:avLst/>
            <a:gdLst/>
            <a:ahLst/>
            <a:cxnLst/>
            <a:rect l="0" t="0" r="0" b="0"/>
            <a:pathLst>
              <a:path w="642" h="80">
                <a:moveTo>
                  <a:pt x="0" y="79"/>
                </a:moveTo>
                <a:lnTo>
                  <a:pt x="642" y="79"/>
                </a:lnTo>
                <a:lnTo>
                  <a:pt x="642" y="80"/>
                </a:lnTo>
                <a:lnTo>
                  <a:pt x="0" y="80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5467350" y="1143000"/>
            <a:ext cx="125730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6B5B"/>
                </a:solidFill>
                <a:latin typeface="Arial"/>
                <a:ea typeface="Arial"/>
              </a:rPr>
              <a:t>3 </a:t>
            </a:r>
            <a:r>
              <a:rPr lang="zh-CN" sz="3300" b="1">
                <a:solidFill>
                  <a:srgbClr val="0B6B5B"/>
                </a:solidFill>
                <a:latin typeface="Arial"/>
                <a:ea typeface="Arial"/>
              </a:rPr>
              <a:t>公里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896100" y="1143000"/>
            <a:ext cx="46863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粤海校区在深圳南山，腾讯、大疆、中兴的国际总部在这个半径内</a:t>
            </a:r>
            <a:endParaRPr/>
          </a:p>
        </p:txBody>
      </p:sp>
      <p:sp>
        <p:nvSpPr>
          <p:cNvPr id="121" name="任意多边形: 形状 120"/>
          <p:cNvSpPr/>
          <p:nvPr/>
        </p:nvSpPr>
        <p:spPr>
          <a:xfrm>
            <a:off x="5467350" y="2076450"/>
            <a:ext cx="6115050" cy="676275"/>
          </a:xfrm>
          <a:custGeom>
            <a:avLst/>
            <a:gdLst/>
            <a:ahLst/>
            <a:cxnLst/>
            <a:rect l="0" t="0" r="0" b="0"/>
            <a:pathLst>
              <a:path w="642" h="71">
                <a:moveTo>
                  <a:pt x="0" y="70"/>
                </a:moveTo>
                <a:lnTo>
                  <a:pt x="642" y="70"/>
                </a:lnTo>
                <a:lnTo>
                  <a:pt x="642" y="71"/>
                </a:lnTo>
                <a:lnTo>
                  <a:pt x="0" y="7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5467350" y="2076450"/>
            <a:ext cx="12573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6B5B"/>
                </a:solidFill>
                <a:latin typeface="Arial"/>
                <a:ea typeface="Arial"/>
              </a:rPr>
              <a:t>200+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896100" y="2076450"/>
            <a:ext cx="46863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家上市公司云集在校园周边，大二大三就能做日常实习</a:t>
            </a:r>
            <a:endParaRPr/>
          </a:p>
        </p:txBody>
      </p:sp>
      <p:sp>
        <p:nvSpPr>
          <p:cNvPr id="124" name="任意多边形: 形状 123"/>
          <p:cNvSpPr/>
          <p:nvPr/>
        </p:nvSpPr>
        <p:spPr>
          <a:xfrm>
            <a:off x="5467350" y="2924175"/>
            <a:ext cx="6115050" cy="676275"/>
          </a:xfrm>
          <a:custGeom>
            <a:avLst/>
            <a:gdLst/>
            <a:ahLst/>
            <a:cxnLst/>
            <a:rect l="0" t="0" r="0" b="0"/>
            <a:pathLst>
              <a:path w="642" h="71">
                <a:moveTo>
                  <a:pt x="0" y="70"/>
                </a:moveTo>
                <a:lnTo>
                  <a:pt x="642" y="70"/>
                </a:lnTo>
                <a:lnTo>
                  <a:pt x="642" y="71"/>
                </a:lnTo>
                <a:lnTo>
                  <a:pt x="0" y="7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5467350" y="2924175"/>
            <a:ext cx="12573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6B5B"/>
                </a:solidFill>
                <a:latin typeface="Arial"/>
                <a:ea typeface="Arial"/>
              </a:rPr>
              <a:t>610+</a:t>
            </a:r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896100" y="2924175"/>
            <a:ext cx="46863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个创新实践基地，与腾讯、华为等企业共建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5467350" y="3771900"/>
            <a:ext cx="12573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000" b="1">
                <a:solidFill>
                  <a:srgbClr val="0B6B5B"/>
                </a:solidFill>
                <a:latin typeface="Arial"/>
                <a:ea typeface="Arial"/>
              </a:rPr>
              <a:t>40%+</a:t>
            </a:r>
            <a:endParaRPr dirty="0"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896100" y="3771900"/>
            <a:ext cx="46863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企业就业毕业生入职世界</a:t>
            </a:r>
            <a:r>
              <a:rPr lang="en-US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500 </a:t>
            </a: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强；录用最多的是比亚迪、华为、新凯来、腾讯</a:t>
            </a:r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609600" y="4933950"/>
            <a:ext cx="10972800" cy="1066800"/>
          </a:xfrm>
          <a:prstGeom prst="rect">
            <a:avLst/>
          </a:prstGeom>
          <a:solidFill>
            <a:srgbClr val="E2542C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矩形 129"/>
          <p:cNvSpPr/>
          <p:nvPr/>
        </p:nvSpPr>
        <p:spPr>
          <a:xfrm>
            <a:off x="609600" y="4933950"/>
            <a:ext cx="38100" cy="1066800"/>
          </a:xfrm>
          <a:prstGeom prst="rect">
            <a:avLst/>
          </a:prstGeom>
          <a:solidFill>
            <a:srgbClr val="E254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914400" y="5191125"/>
            <a:ext cx="999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211F"/>
                </a:solidFill>
                <a:latin typeface="Microsoft YaHei"/>
                <a:ea typeface="Microsoft YaHei"/>
              </a:rPr>
              <a:t>但这一页必须把话说全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914400" y="5457825"/>
            <a:ext cx="99917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优势高度集中在大湾区，出省后认可度明显下降；普通专业保研率仅约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5%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2025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届整体读研率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31.65%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），想走推免读研，通道比同分段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211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窄。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荔园：4500 棵荔枝树，和一所不设围墙的学校&#10;        &lt;/Text&gt;&#10;        &lt;Text style={{ fontSize: 14, color: 'rgba(23,33,31,0.42)', letterSpacing: 3, paddingBottom: 8 }}&gt;校　园&lt;/Text&gt;&#10;    &lt;/Box&gt;&#10;&#10;    &lt;Box style={{ height: 540, paddingLeft: 64, paddingRight: 64, flexDirection: 'row', gap: 40 }}&gt;&#10;&#10;        &lt;Animation animType=&quot;fadeIn&quot; startType=&quot;afterPrevious&quot; duration={650}&gt;&#10;            &lt;Box style={{ width: 452, height: 540, overflow: 'hidden' }}&gt;&#10;                &lt;Image src=&quot;assets/lychee.jpg&quot; style={{ width: 452, height: 540, objectFit: 'cover' }} /&gt;&#10;            &lt;/Box&gt;&#10;        &lt;/Animation&gt;&#10;&#10;        &lt;Animation animType=&quot;fadeIn&quot; startType=&quot;afterPrevious&quot; duration={600}&gt;&#10;            &lt;Box style={{ flex: 1, flexDirection: 'column', justifyContent: 'space-between' }}&gt;&#10;&#10;                &lt;Box style={{ flexDirection: 'column' }}&gt;&#10;                    &lt;Box style={{ flexDirection: 'row', alignItems: 'flex-end', gap: 14 }}&gt;&#10;                        &lt;Text style={{ fontSize: 76, fontWeight: 'bold', fontFamily: 'Arial', color: '#0B6B5B', lineHeight: 1, letterSpacing: -2 }}&gt;4500&lt;/Text&gt;&#10;                        &lt;Text style={{ fontSize: 19, color: 'rgba(23,33,31,0.70)', lineHeight: 1.4, paddingBottom: 8 }}&gt;棵荔枝树，在粤海校区&lt;/Text&gt;&#10;                    &lt;/Box&gt;&#10;                    &lt;Text style={{ fontSize: 16, color: 'rgba(23,33,31,0.60)', lineHeight: 1.7, marginTop: 12 }}&gt;&#10;                        每年夏天学校统一采摘、免费派发给师生，2025 年产量预估 10 万斤以上。荔枝派发不是噱头，&#10;                        它说明的是一所校园和师生之间的关系。&#10;                    &lt;/Text&gt;&#10;                &lt;/Box&gt;&#10;&#10;                &lt;Box style={{ flexDirection: 'column', gap: 14, paddingTop: 18, paddingBottom: 18, borderTop: '1px solid rgba(11,107,91,0.16)', borderBottom: '1px solid rgba(11,107,91,0.16)' }}&gt;&#10;                    &lt;Box style={{ flexDirection: 'row', gap: 14 }}&gt;&#10;                        &lt;Text style={{ fontSize: 15, fontWeight: 'bold', color: '#0B6B5B', width: 118 }}&gt;硬件&lt;/Text&gt;&#10;                        &lt;Text style={{ fontSize: 16, color: 'rgba(23,33,31,0.66)', lineHeight: 1.6, flex: 1 }}&gt;&#10;                            粤海校区致艺楼（「洞洞楼」）是纯白几何建筑；丽湖校区启明楼图书馆建有境内首个高校图书馆智能立体书库，藏书超 300 万册。&#10;                        &lt;/Text&gt;&#10;                    &lt;/Box&gt;&#10;                    &lt;Box style={{ flexDirection: 'row', gap: 14 }}&gt;&#10;                        &lt;Text style={{ fontSize: 15, fontWeight: 'bold', color: '#0B6B5B', width: 118 }}&gt;生活&lt;/Text&gt;&#10;                        &lt;Text style={{ fontSize: 16, color: 'rgba(23,33,31,0.66)', lineHeight: 1.6, flex: 1 }}&gt;&#10;                            全校 134 个学生社团；本科生最高荣誉奖学金「荔园卓越之星」奖金 5 万元。&#10;                        &lt;/Text&gt;&#10;                    &lt;/Box&gt;&#10;                &lt;/Box&gt;&#10;&#10;                &lt;Box style={{ flexDirection: 'column', gap: 8 }}&gt;&#10;                    &lt;Text style={{ fontSize: 18, fontWeight: 'bold', color: '#17211F', lineHeight: 1.5 }}&gt;&#10;                        两个校区都在南山核心区——课堂和生活之间的墙，比很多学校要薄。&#10;                    &lt;/Text&gt;&#10;                    &lt;Text style={{ fontSize: 16, color: 'rgba(23,33,31,0.55)', lineHeight: 1.7 }}&gt;&#10;                        你社团里认识的人、实习进的项目，很可能就在隔壁楼里。&#10;                    &lt;/Text&gt;&#10;                &lt;/Box&gt;&#10;&#10;            &lt;/Box&gt;&#10;        &lt;/Animation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6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 1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09600" y="609600"/>
            <a:ext cx="68389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荔园：</a:t>
            </a:r>
            <a:r>
              <a:rPr lang="en-US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4500 </a:t>
            </a: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棵荔枝树，和一所不设围墙的学校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校　园</a:t>
            </a:r>
            <a:endParaRPr/>
          </a:p>
        </p:txBody>
      </p:sp>
      <p:pic>
        <p:nvPicPr>
          <p:cNvPr id="139" name="图片 138"/>
          <p:cNvPicPr>
            <a:picLocks noChangeAspect="1"/>
          </p:cNvPicPr>
          <p:nvPr/>
        </p:nvPicPr>
        <p:blipFill>
          <a:blip r:embed="rId2"/>
          <a:srcRect l="39" r="39"/>
          <a:stretch>
            <a:fillRect/>
          </a:stretch>
        </p:blipFill>
        <p:spPr>
          <a:xfrm>
            <a:off x="609600" y="1143000"/>
            <a:ext cx="4305300" cy="5143500"/>
          </a:xfrm>
          <a:prstGeom prst="rect">
            <a:avLst/>
          </a:prstGeom>
          <a:ln/>
        </p:spPr>
      </p:pic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295900" y="1143000"/>
            <a:ext cx="1543050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 spc="-150">
                <a:solidFill>
                  <a:srgbClr val="0B6B5B"/>
                </a:solidFill>
                <a:latin typeface="Arial"/>
                <a:ea typeface="Arial"/>
              </a:rPr>
              <a:t>4500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972300" y="1638300"/>
            <a:ext cx="1809750" cy="381000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7211F">
                    <a:alpha val="70000"/>
                  </a:srgbClr>
                </a:solidFill>
                <a:latin typeface="Microsoft YaHei"/>
                <a:ea typeface="Microsoft YaHei"/>
              </a:rPr>
              <a:t>棵荔枝树，在粤海校区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5295900" y="2133600"/>
            <a:ext cx="62865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每年夏天学校统一采摘、免费派发给师生，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2025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年产量预估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万斤以上。荔枝派发不是噱头，</a:t>
            </a:r>
            <a:r>
              <a:rPr lang="en-US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7211F">
                    <a:alpha val="60000"/>
                  </a:srgbClr>
                </a:solidFill>
                <a:latin typeface="Microsoft YaHei"/>
                <a:ea typeface="Microsoft YaHei"/>
              </a:rPr>
              <a:t>它说明的是一所校园和师生之间的关系。</a:t>
            </a:r>
            <a:endParaRPr/>
          </a:p>
        </p:txBody>
      </p:sp>
      <p:sp>
        <p:nvSpPr>
          <p:cNvPr id="143" name="任意多边形: 形状 142"/>
          <p:cNvSpPr/>
          <p:nvPr/>
        </p:nvSpPr>
        <p:spPr>
          <a:xfrm>
            <a:off x="5295900" y="3333750"/>
            <a:ext cx="6286500" cy="1695450"/>
          </a:xfrm>
          <a:custGeom>
            <a:avLst/>
            <a:gdLst/>
            <a:ahLst/>
            <a:cxnLst/>
            <a:rect l="0" t="0" r="0" b="0"/>
            <a:pathLst>
              <a:path w="660" h="178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任意多边形: 形状 143"/>
          <p:cNvSpPr/>
          <p:nvPr/>
        </p:nvSpPr>
        <p:spPr>
          <a:xfrm>
            <a:off x="5295900" y="3333750"/>
            <a:ext cx="6286500" cy="1695450"/>
          </a:xfrm>
          <a:custGeom>
            <a:avLst/>
            <a:gdLst/>
            <a:ahLst/>
            <a:cxnLst/>
            <a:rect l="0" t="0" r="0" b="0"/>
            <a:pathLst>
              <a:path w="660" h="178">
                <a:moveTo>
                  <a:pt x="0" y="177"/>
                </a:moveTo>
                <a:lnTo>
                  <a:pt x="660" y="177"/>
                </a:lnTo>
                <a:lnTo>
                  <a:pt x="660" y="178"/>
                </a:lnTo>
                <a:lnTo>
                  <a:pt x="0" y="178"/>
                </a:lnTo>
                <a:close/>
              </a:path>
            </a:pathLst>
          </a:custGeom>
          <a:solidFill>
            <a:srgbClr val="0B6B5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5295900" y="3514725"/>
            <a:ext cx="112395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6B5B"/>
                </a:solidFill>
                <a:latin typeface="Microsoft YaHei"/>
                <a:ea typeface="Microsoft YaHei"/>
              </a:rPr>
              <a:t>硬件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553200" y="3514725"/>
            <a:ext cx="5029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粤海校区致艺楼（「洞洞楼」）是纯白几何建筑；丽湖校区启明楼图书馆建有境内首个高校图书馆智能立体书库，藏书超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300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万册。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5295900" y="4238625"/>
            <a:ext cx="112395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6B5B"/>
                </a:solidFill>
                <a:latin typeface="Microsoft YaHei"/>
                <a:ea typeface="Microsoft YaHei"/>
              </a:rPr>
              <a:t>生活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553200" y="4238625"/>
            <a:ext cx="5029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全校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134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个学生社团；本科生最高荣誉奖学金「荔园卓越之星」奖金</a:t>
            </a:r>
            <a:r>
              <a:rPr lang="en-US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万元。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5295900" y="5581650"/>
            <a:ext cx="6286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7211F"/>
                </a:solidFill>
                <a:latin typeface="Microsoft YaHei"/>
                <a:ea typeface="Microsoft YaHei"/>
              </a:rPr>
              <a:t>两个校区都在南山核心区——课堂和生活之间的墙，比很多学校要薄。</a:t>
            </a:r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295900" y="5972175"/>
            <a:ext cx="6286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17211F">
                    <a:alpha val="55000"/>
                  </a:srgbClr>
                </a:solidFill>
                <a:latin typeface="Microsoft YaHei"/>
                <a:ea typeface="Microsoft YaHei"/>
              </a:rPr>
              <a:t>你社团里认识的人、实习进的项目，很可能就在隔壁楼里。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BF9F4', padding: 0, flexDirection: 'column' }}&gt;&#10;&#10;    &lt;Box style={{ height: 120, paddingLeft: 64, paddingRight: 64, paddingTop: 26, flexDirection: 'row', alignItems: 'flex-end', justifyContent: 'space-between' }}&gt;&#10;        &lt;Text style={{ fontSize: 34, fontWeight: 'bold', color: '#17211F', letterSpacing: 0.5, lineHeight: 1.35 }}&gt;&#10;            如果只能带走一张表，就带走这张&#10;        &lt;/Text&gt;&#10;        &lt;Text style={{ fontSize: 14, color: 'rgba(23,33,31,0.42)', letterSpacing: 3, paddingBottom: 8 }}&gt;判　断&lt;/Text&gt;&#10;    &lt;/Box&gt;&#10;&#10;    &lt;Box style={{ height: 540, paddingLeft: 64, paddingRight: 64, flexDirection: 'row', gap: 32 }}&gt;&#10;&#10;        &lt;Animation animType=&quot;fadeIn&quot; startType=&quot;afterPrevious&quot; duration={600}&gt;&#10;            &lt;Box style={{ width: 720, flexDirection: 'column' }}&gt;&#10;                &lt;Box style={{ flexDirection: 'row', paddingBottom: 14, borderBottom: '2px solid #0B6B5B' }}&gt;&#10;                    &lt;Text style={{ fontSize: 15, fontWeight: 'bold', color: '#0B6B5B', letterSpacing: 1, width: 300 }}&gt;如果你的情况是&lt;/Text&gt;&#10;                    &lt;Text style={{ fontSize: 15, fontWeight: 'bold', color: '#0B6B5B', letterSpacing: 1, flex: 1 }}&gt;深大值得认真考虑的地方&lt;/Text&gt;&#10;                &lt;/Box&gt;&#10;&#10;                &lt;Box style={{ flexDirection: 'row', alignItems: 'center', paddingTop: 26, paddingBottom: 26, borderBottom: '1px solid rgba(11,107,91,0.14)' }}&gt;&#10;                    &lt;Text style={{ fontSize: 19, fontWeight: 'bold', color: '#17211F', width: 300, lineHeight: 1.45 }}&gt;计划在粤港澳大湾区发展&lt;/Text&gt;&#10;                    &lt;Text style={{ fontSize: 17, color: 'rgba(23,33,31,0.66)', flex: 1, lineHeight: 1.6 }}&gt;区位和校企连接，是它最实在的优势&lt;/Text&gt;&#10;                &lt;/Box&gt;&#10;                &lt;Box style={{ flexDirection: 'row', alignItems: 'center', paddingTop: 26, paddingBottom: 26, borderBottom: '1px solid rgba(11,107,91,0.14)' }}&gt;&#10;                    &lt;Text style={{ fontSize: 19, fontWeight: 'bold', color: '#17211F', width: 300, lineHeight: 1.45 }}&gt;希望保留换专业、跨学科的空间&lt;/Text&gt;&#10;                    &lt;Text style={{ fontSize: 17, color: 'rgba(23,33,31,0.66)', flex: 1, lineHeight: 1.6 }}&gt;转出无门槛，加上 40 余个特色实验班，提供了容错率&lt;/Text&gt;&#10;                &lt;/Box&gt;&#10;                &lt;Box style={{ flexDirection: 'row', alignItems: 'center', paddingTop: 26, paddingBottom: 26, borderBottom: '1px solid rgba(11,107,91,0.14)' }}&gt;&#10;                    &lt;Text style={{ fontSize: 19, fontWeight: 'bold', color: '#17211F', width: 300, lineHeight: 1.45 }}&gt;对动手做项目、进实验室有兴趣&lt;/Text&gt;&#10;                    &lt;Text style={{ fontSize: 17, color: 'rgba(23,33,31,0.66)', flex: 1, lineHeight: 1.6 }}&gt;院士班、科创训练营是真实入口&lt;/Text&gt;&#10;                &lt;/Box&gt;&#10;                &lt;Box style={{ flexDirection: 'row', alignItems: 'center', paddingTop: 26 }}&gt;&#10;                    &lt;Text style={{ fontSize: 19, fontWeight: 'bold', color: '#17211F', width: 300, lineHeight: 1.45 }}&gt;目标是本科就业，进头部企业&lt;/Text&gt;&#10;                    &lt;Text style={{ fontSize: 17, color: 'rgba(23,33,31,0.66)', flex: 1, lineHeight: 1.6 }}&gt;四成以上企业就业毕业生入职世界 500 强&lt;/Text&gt;&#10;                &lt;/Box&gt;&#10;            &lt;/Box&gt;&#10;        &lt;/Animation&gt;&#10;&#10;        &lt;Animation animType=&quot;fadeIn&quot; startType=&quot;afterPrevious&quot; duration={520}&gt;&#10;            &lt;Box style={{ width: 396, background: '#0B6B5B', padding: 30, flexDirection: 'column' }}&gt;&#10;                &lt;Text style={{ fontSize: 22, fontWeight: 'bold', color: '#FBF9F4', marginBottom: 6 }}&gt;需要谨慎的情况&lt;/Text&gt;&#10;                &lt;Text style={{ fontSize: 14, color: 'rgba(251,249,244,0.55)', letterSpacing: 1, marginBottom: 24 }}&gt;如果这三条命中你，就要多想一步&lt;/Text&gt;&#10;&#10;                &lt;Box style={{ flexDirection: 'column', gap: 22 }}&gt;&#10;                    &lt;Box style={{ flexDirection: 'column', gap: 6 }}&gt;&#10;                        &lt;Text style={{ fontSize: 17, fontWeight: 'bold', color: '#FBF9F4' }}&gt;计划出省就业&lt;/Text&gt;&#10;                        &lt;Text style={{ fontSize: 15, color: 'rgba(251,249,244,0.70)', lineHeight: 1.65 }}&gt;地域优势集中在深圳与大湾区&lt;/Text&gt;&#10;                    &lt;/Box&gt;&#10;                    &lt;Box style={{ flexDirection: 'column', gap: 6 }}&gt;&#10;                        &lt;Text style={{ fontSize: 17, fontWeight: 'bold', color: '#FBF9F4' }}&gt;想保研走学术路线&lt;/Text&gt;&#10;                        &lt;Text style={{ fontSize: 15, color: 'rgba(251,249,244,0.70)', lineHeight: 1.65 }}&gt;普通专业保研率约 5%，同分数段 211 通常更高&lt;/Text&gt;&#10;                    &lt;/Box&gt;&#10;                    &lt;Box style={{ flexDirection: 'column', gap: 6 }}&gt;&#10;                        &lt;Text style={{ fontSize: 17, fontWeight: 'bold', color: '#FBF9F4' }}&gt;非常看重 A 类学科标签&lt;/Text&gt;&#10;                        &lt;Text style={{ fontSize: 15, color: 'rgba(251,249,244,0.70)', lineHeight: 1.65 }}&gt;深大目前没有&lt;/Text&gt;&#10;                    &lt;/Box&gt;&#10;                &lt;/Box&gt;&#10;            &lt;/Box&gt;&#10;        &lt;/Animation&gt;&#10;&#10;    &lt;/Box&gt;&#10;&#10;    &lt;Box style={{ height: 60, paddingLeft: 64, paddingRight: 64, flexDirection: 'row', alignItems: 'center', justifyContent: 'space-between' }}&gt;&#10;        &lt;Text style={{ fontSize: 14, color: 'rgba(23,33,31,0.40)', letterSpacing: 1 }}&gt;深圳大学 · 五分钟院校巡礼&lt;/Text&gt;&#10;        &lt;Text style={{ fontSize: 14, color: 'rgba(23,33,31,0.40)', letterSpacing: 1 }}&gt;07 / 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609600" y="609600"/>
            <a:ext cx="49339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38">
                <a:solidFill>
                  <a:srgbClr val="17211F"/>
                </a:solidFill>
                <a:latin typeface="Microsoft YaHei"/>
                <a:ea typeface="Microsoft YaHei"/>
              </a:rPr>
              <a:t>如果只能带走一张表，就带走这张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1096625" y="904875"/>
            <a:ext cx="485775" cy="23812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17211F">
                    <a:alpha val="42000"/>
                  </a:srgbClr>
                </a:solidFill>
                <a:latin typeface="Microsoft YaHei"/>
                <a:ea typeface="Microsoft YaHei"/>
              </a:rPr>
              <a:t>判　断</a:t>
            </a:r>
            <a:endParaRPr/>
          </a:p>
        </p:txBody>
      </p:sp>
      <p:sp>
        <p:nvSpPr>
          <p:cNvPr id="157" name="任意多边形: 形状 156"/>
          <p:cNvSpPr/>
          <p:nvPr/>
        </p:nvSpPr>
        <p:spPr>
          <a:xfrm>
            <a:off x="609600" y="1143000"/>
            <a:ext cx="6858000" cy="342900"/>
          </a:xfrm>
          <a:custGeom>
            <a:avLst/>
            <a:gdLst/>
            <a:ahLst/>
            <a:cxnLst/>
            <a:rect l="0" t="0" r="0" b="0"/>
            <a:pathLst>
              <a:path w="720" h="36">
                <a:moveTo>
                  <a:pt x="0" y="34"/>
                </a:moveTo>
                <a:lnTo>
                  <a:pt x="720" y="34"/>
                </a:lnTo>
                <a:lnTo>
                  <a:pt x="720" y="36"/>
                </a:lnTo>
                <a:lnTo>
                  <a:pt x="0" y="36"/>
                </a:lnTo>
                <a:close/>
              </a:path>
            </a:pathLst>
          </a:custGeom>
          <a:solidFill>
            <a:srgbClr val="0B6B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09600" y="1143000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0B6B5B"/>
                </a:solidFill>
                <a:latin typeface="Microsoft YaHei"/>
                <a:ea typeface="Microsoft YaHei"/>
              </a:rPr>
              <a:t>如果你的情况是</a:t>
            </a:r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3467100" y="1143000"/>
            <a:ext cx="4000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0B6B5B"/>
                </a:solidFill>
                <a:latin typeface="Microsoft YaHei"/>
                <a:ea typeface="Microsoft YaHei"/>
              </a:rPr>
              <a:t>深大值得认真考虑的地方</a:t>
            </a:r>
            <a:endParaRPr/>
          </a:p>
        </p:txBody>
      </p:sp>
      <p:sp>
        <p:nvSpPr>
          <p:cNvPr id="160" name="任意多边形: 形状 159"/>
          <p:cNvSpPr/>
          <p:nvPr/>
        </p:nvSpPr>
        <p:spPr>
          <a:xfrm>
            <a:off x="609600" y="1466850"/>
            <a:ext cx="6858000" cy="838200"/>
          </a:xfrm>
          <a:custGeom>
            <a:avLst/>
            <a:gdLst/>
            <a:ahLst/>
            <a:cxnLst/>
            <a:rect l="0" t="0" r="0" b="0"/>
            <a:pathLst>
              <a:path w="720" h="88">
                <a:moveTo>
                  <a:pt x="0" y="87"/>
                </a:moveTo>
                <a:lnTo>
                  <a:pt x="720" y="87"/>
                </a:lnTo>
                <a:lnTo>
                  <a:pt x="72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0B6B5B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09600" y="1714500"/>
            <a:ext cx="285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7211F"/>
                </a:solidFill>
                <a:latin typeface="Microsoft YaHei"/>
                <a:ea typeface="Microsoft YaHei"/>
              </a:rPr>
              <a:t>计划在粤港澳大湾区发展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3467100" y="1724025"/>
            <a:ext cx="4000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区位和校企连接，是它最实在的优势</a:t>
            </a:r>
            <a:endParaRPr/>
          </a:p>
        </p:txBody>
      </p:sp>
      <p:sp>
        <p:nvSpPr>
          <p:cNvPr id="163" name="任意多边形: 形状 162"/>
          <p:cNvSpPr/>
          <p:nvPr/>
        </p:nvSpPr>
        <p:spPr>
          <a:xfrm>
            <a:off x="609600" y="2295525"/>
            <a:ext cx="6858000" cy="838200"/>
          </a:xfrm>
          <a:custGeom>
            <a:avLst/>
            <a:gdLst/>
            <a:ahLst/>
            <a:cxnLst/>
            <a:rect l="0" t="0" r="0" b="0"/>
            <a:pathLst>
              <a:path w="720" h="88">
                <a:moveTo>
                  <a:pt x="0" y="87"/>
                </a:moveTo>
                <a:lnTo>
                  <a:pt x="720" y="87"/>
                </a:lnTo>
                <a:lnTo>
                  <a:pt x="72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0B6B5B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09600" y="2543175"/>
            <a:ext cx="285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7211F"/>
                </a:solidFill>
                <a:latin typeface="Microsoft YaHei"/>
                <a:ea typeface="Microsoft YaHei"/>
              </a:rPr>
              <a:t>希望保留换专业、跨学科的空间</a:t>
            </a:r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3467100" y="2552700"/>
            <a:ext cx="4000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转出无门槛，加上</a:t>
            </a:r>
            <a:r>
              <a:rPr lang="en-US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40 </a:t>
            </a: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余个特色实验班，提供了容错率</a:t>
            </a:r>
            <a:endParaRPr/>
          </a:p>
        </p:txBody>
      </p:sp>
      <p:sp>
        <p:nvSpPr>
          <p:cNvPr id="166" name="任意多边形: 形状 165"/>
          <p:cNvSpPr/>
          <p:nvPr/>
        </p:nvSpPr>
        <p:spPr>
          <a:xfrm>
            <a:off x="609600" y="3124200"/>
            <a:ext cx="6858000" cy="838200"/>
          </a:xfrm>
          <a:custGeom>
            <a:avLst/>
            <a:gdLst/>
            <a:ahLst/>
            <a:cxnLst/>
            <a:rect l="0" t="0" r="0" b="0"/>
            <a:pathLst>
              <a:path w="720" h="88">
                <a:moveTo>
                  <a:pt x="0" y="87"/>
                </a:moveTo>
                <a:lnTo>
                  <a:pt x="720" y="87"/>
                </a:lnTo>
                <a:lnTo>
                  <a:pt x="72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0B6B5B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609600" y="3371850"/>
            <a:ext cx="285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7211F"/>
                </a:solidFill>
                <a:latin typeface="Microsoft YaHei"/>
                <a:ea typeface="Microsoft YaHei"/>
              </a:rPr>
              <a:t>对动手做项目、进实验室有兴趣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467100" y="3381375"/>
            <a:ext cx="4000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院士班、科创训练营是真实入口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09600" y="4200525"/>
            <a:ext cx="285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7211F"/>
                </a:solidFill>
                <a:latin typeface="Microsoft YaHei"/>
                <a:ea typeface="Microsoft YaHei"/>
              </a:rPr>
              <a:t>目标是本科就业，进头部企业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3467100" y="4210050"/>
            <a:ext cx="4000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四成以上企业就业毕业生入职世界</a:t>
            </a:r>
            <a:r>
              <a:rPr lang="en-US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 500 </a:t>
            </a:r>
            <a:r>
              <a:rPr lang="zh-CN" sz="1275">
                <a:solidFill>
                  <a:srgbClr val="17211F">
                    <a:alpha val="66000"/>
                  </a:srgbClr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171" name="矩形 170"/>
          <p:cNvSpPr/>
          <p:nvPr/>
        </p:nvSpPr>
        <p:spPr>
          <a:xfrm>
            <a:off x="7772400" y="1143000"/>
            <a:ext cx="3771900" cy="5143500"/>
          </a:xfrm>
          <a:prstGeom prst="rect">
            <a:avLst/>
          </a:prstGeom>
          <a:solidFill>
            <a:srgbClr val="0B6B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8058150" y="1428750"/>
            <a:ext cx="3200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BF9F4"/>
                </a:solidFill>
                <a:latin typeface="Microsoft YaHei"/>
                <a:ea typeface="Microsoft YaHei"/>
              </a:rPr>
              <a:t>需要谨慎的情况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058150" y="1743075"/>
            <a:ext cx="3200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FBF9F4">
                    <a:alpha val="55000"/>
                  </a:srgbClr>
                </a:solidFill>
                <a:latin typeface="Microsoft YaHei"/>
                <a:ea typeface="Microsoft YaHei"/>
              </a:rPr>
              <a:t>如果这三条命中你，就要多想一步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058150" y="2133600"/>
            <a:ext cx="320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F9F4"/>
                </a:solidFill>
                <a:latin typeface="Microsoft YaHei"/>
                <a:ea typeface="Microsoft YaHei"/>
              </a:rPr>
              <a:t>计划出省就业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058150" y="2390775"/>
            <a:ext cx="3200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地域优势集中在深圳与大湾区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8058150" y="2886075"/>
            <a:ext cx="320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F9F4"/>
                </a:solidFill>
                <a:latin typeface="Microsoft YaHei"/>
                <a:ea typeface="Microsoft YaHei"/>
              </a:rPr>
              <a:t>想保研走学术路线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058150" y="3143250"/>
            <a:ext cx="3200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普通专业保研率约</a:t>
            </a:r>
            <a:r>
              <a:rPr lang="en-US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 5%</a:t>
            </a:r>
            <a:r>
              <a:rPr lang="zh-CN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，同分数段</a:t>
            </a:r>
            <a:r>
              <a:rPr lang="en-US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 211 </a:t>
            </a:r>
            <a:r>
              <a:rPr lang="zh-CN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通常更高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8058150" y="3638550"/>
            <a:ext cx="320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F9F4"/>
                </a:solidFill>
                <a:latin typeface="Microsoft YaHei"/>
                <a:ea typeface="Microsoft YaHei"/>
              </a:rPr>
              <a:t>非常看重</a:t>
            </a:r>
            <a:r>
              <a:rPr lang="en-US" sz="1275" b="1">
                <a:solidFill>
                  <a:srgbClr val="FBF9F4"/>
                </a:solidFill>
                <a:latin typeface="Microsoft YaHei"/>
                <a:ea typeface="Microsoft YaHei"/>
              </a:rPr>
              <a:t> A </a:t>
            </a:r>
            <a:r>
              <a:rPr lang="zh-CN" sz="1275" b="1">
                <a:solidFill>
                  <a:srgbClr val="FBF9F4"/>
                </a:solidFill>
                <a:latin typeface="Microsoft YaHei"/>
                <a:ea typeface="Microsoft YaHei"/>
              </a:rPr>
              <a:t>类学科标签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058150" y="3895725"/>
            <a:ext cx="3200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FBF9F4">
                    <a:alpha val="70000"/>
                  </a:srgbClr>
                </a:solidFill>
                <a:latin typeface="Microsoft YaHei"/>
                <a:ea typeface="Microsoft YaHei"/>
              </a:rPr>
              <a:t>深大目前没有</a:t>
            </a:r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609600" y="6496050"/>
            <a:ext cx="1714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深圳大学</a:t>
            </a: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五分钟院校巡礼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1058525" y="6496050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17211F">
                    <a:alpha val="40000"/>
                  </a:srgbClr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2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2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2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2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2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B6B5B', padding: 0, position: 'relative', overflow: 'hidden' }}&gt;&#10;&#10;    &lt;Box style={{ position: 'absolute', left: 0, top: 0, width: 1280, height: 720, paddingLeft: 140, paddingRight: 140, flexDirection: 'column', justifyContent: 'center' }}&gt;&#10;&#10;        &lt;Box style={{ width: 64, height: 3, background: '#E2542C', marginBottom: 40 }} /&gt;&#10;&#10;        &lt;Animation animType=&quot;fadeIn&quot; startType=&quot;afterPrevious&quot; duration={900}&gt;&#10;            &lt;Box style={{ flexDirection: 'column' }}&gt;&#10;                &lt;Text style={{ fontSize: 44, fontWeight: 'bold', color: '#FBF9F4', lineHeight: 1.6, letterSpacing: 1 }}&gt;&#10;                    了解一所大学，不是看它最好的一面有多亮，&#10;                &lt;/Text&gt;&#10;                &lt;Text style={{ fontSize: 44, fontWeight: 'bold', color: '#FBF9F4', lineHeight: 1.6, letterSpacing: 1 }}&gt;&#10;                    而是看它的优势，是否对应你未来要走的方向。&#10;                &lt;/Text&gt;&#10;            &lt;/Box&gt;&#10;        &lt;/Animation&gt;&#10;&#10;        &lt;Animation animType=&quot;fadeIn&quot; startType=&quot;afterPrevious&quot; duration={550}&gt;&#10;            &lt;Box style={{ flexDirection: 'column', marginTop: 48 }}&gt;&#10;                &lt;Box style={{ width: '100%', height: 1, background: 'rgba(251,249,244,0.24)', marginBottom: 24 }} /&gt;&#10;                &lt;Text style={{ fontSize: 18, color: 'rgba(251,249,244,0.62)', lineHeight: 1.8, letterSpacing: 0.5 }}&gt;&#10;                    深大不是所有人的答案，但它是一个足够诚实的样本：优势集中，短板也清楚。&#10;                &lt;/Text&gt;&#10;            &lt;/Box&gt;&#10;        &lt;/Animation&gt;&#10;&#10;    &lt;/Box&gt;&#10;&#10;    &lt;Text style={{ position: 'absolute', left: 140, bottom: 44, fontSize: 14, color: 'rgba(251,249,244,0.42)', letterSpacing: 2 }}&gt;&#10;        1983 · 荔园 · 深圳大学&#10;    &lt;/Text&gt;&#10;&#10;    &lt;Text style={{ position: 'absolute', right: 64, bottom: 44, fontSize: 14, color: 'rgba(251,249,244,0.52)', letterSpacing: 1 }}&gt;&#10;        08 / 08&#10;  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矩形 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6B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矩形 183"/>
          <p:cNvSpPr/>
          <p:nvPr/>
        </p:nvSpPr>
        <p:spPr>
          <a:xfrm>
            <a:off x="1333500" y="1885950"/>
            <a:ext cx="609600" cy="28575"/>
          </a:xfrm>
          <a:prstGeom prst="rect">
            <a:avLst/>
          </a:prstGeom>
          <a:solidFill>
            <a:srgbClr val="E254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333500" y="2295525"/>
            <a:ext cx="9525000" cy="809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3300" b="1" spc="75">
                <a:solidFill>
                  <a:srgbClr val="FBF9F4"/>
                </a:solidFill>
                <a:latin typeface="Microsoft YaHei"/>
                <a:ea typeface="Microsoft YaHei"/>
              </a:rPr>
              <a:t>了解一所大学，不是看它最好的一面有多亮，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333500" y="3105150"/>
            <a:ext cx="9525000" cy="809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3300" b="1" spc="75">
                <a:solidFill>
                  <a:srgbClr val="FBF9F4"/>
                </a:solidFill>
                <a:latin typeface="Microsoft YaHei"/>
                <a:ea typeface="Microsoft YaHei"/>
              </a:rPr>
              <a:t>而是看它的优势，是否对应你未来要走的方向。</a:t>
            </a:r>
            <a:endParaRPr/>
          </a:p>
        </p:txBody>
      </p:sp>
      <p:sp>
        <p:nvSpPr>
          <p:cNvPr id="187" name="矩形 186"/>
          <p:cNvSpPr/>
          <p:nvPr/>
        </p:nvSpPr>
        <p:spPr>
          <a:xfrm>
            <a:off x="1333500" y="4371975"/>
            <a:ext cx="9525000" cy="9525"/>
          </a:xfrm>
          <a:prstGeom prst="rect">
            <a:avLst/>
          </a:prstGeom>
          <a:solidFill>
            <a:srgbClr val="FBF9F4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1333500" y="4610100"/>
            <a:ext cx="9525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350" spc="38">
                <a:solidFill>
                  <a:srgbClr val="FBF9F4">
                    <a:alpha val="62000"/>
                  </a:srgbClr>
                </a:solidFill>
                <a:latin typeface="Microsoft YaHei"/>
                <a:ea typeface="Microsoft YaHei"/>
              </a:rPr>
              <a:t>深大不是所有人的答案，但它是一个足够诚实的样本：优势集中，短板也清楚。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333500" y="6276975"/>
            <a:ext cx="1647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BF9F4">
                    <a:alpha val="42000"/>
                  </a:srgbClr>
                </a:solidFill>
                <a:latin typeface="Microsoft YaHei"/>
                <a:ea typeface="Microsoft YaHei"/>
              </a:rPr>
              <a:t>1983 · </a:t>
            </a:r>
            <a:r>
              <a:rPr lang="zh-CN" sz="1050" spc="150">
                <a:solidFill>
                  <a:srgbClr val="FBF9F4">
                    <a:alpha val="42000"/>
                  </a:srgbClr>
                </a:solidFill>
                <a:latin typeface="Microsoft YaHei"/>
                <a:ea typeface="Microsoft YaHei"/>
              </a:rPr>
              <a:t>荔园</a:t>
            </a:r>
            <a:r>
              <a:rPr lang="en-US" sz="1050" spc="150">
                <a:solidFill>
                  <a:srgbClr val="FBF9F4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FBF9F4">
                    <a:alpha val="42000"/>
                  </a:srgbClr>
                </a:solidFill>
                <a:latin typeface="Microsoft YaHei"/>
                <a:ea typeface="Microsoft YaHei"/>
              </a:rPr>
              <a:t>深圳大学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1058525" y="627697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BF9F4">
                    <a:alpha val="52000"/>
                  </a:srgbClr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Office PowerPoint</Application>
  <PresentationFormat>宽屏</PresentationFormat>
  <Paragraphs>131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奕帆 李</cp:lastModifiedBy>
  <cp:revision>2</cp:revision>
  <dcterms:created xsi:type="dcterms:W3CDTF">2026-10-22T14:04:01Z</dcterms:created>
  <dcterms:modified xsi:type="dcterms:W3CDTF">2026-10-22T06:04:31Z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{"AIGC":{"Label":"1","ContentProducer":"00119111010856365494821B355","ProduceID":"01a1622000c974dab414290c12b14490","ReservedCode1":"","ContentPropagator":"00119111010856365494821B355","PropagateID":"01a1622000c974dab414290c12b14490","ReservedCode2":""}}</vt:lpwstr>
  </property>
</Properties>
</file>
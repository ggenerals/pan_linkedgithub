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tableStyles" Target="tableStyles.xml" /><Relationship Id="rId12" Type="http://schemas.openxmlformats.org/officeDocument/2006/relationships/presProps" Target="presProps.xml" /><Relationship Id="rId11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jp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Relationship Id="rId2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adding: 0, position: 'relative', background: '#0B0E14', overflow: 'hidden' }}&gt;&#10;&#10;    {/* 满版底图 */}&#10;    &lt;Box style={{ position: 'absolute', top: 0, left: 0, width: 1280, height: 720 }}&gt;&#10;        &lt;Image src=&quot;assets/stage_empty.jpg&quot; style={{ width: 1280, height: 720, objectFit: 'cover' }} /&gt;&#10;    &lt;/Box&gt;&#10;&#10;    {/* 左侧压暗渐变，保证文字可读 */}&#10;    &lt;Box style={{ position: 'absolute', top: 0, left: 0, width: 1280, height: 720, background: 'linear-gradient(90deg, #0B0E14 0%, rgba(11,14,20,0.92) 30%, rgba(11,14,20,0) 68%)' }} /&gt;&#10;&#10;    {/* 左侧骑线文字 */}&#10;    &lt;Box style={{ position: 'absolute', top: 150, left: 76, width: 680, flexDirection: 'column' }}&gt;&#10;        &lt;Box style={{ flexDirection: 'row', alignItems: 'center', gap: 14, marginBottom: 22 }}&gt;&#10;            &lt;Text style={{ fontFamily: 'Microsoft YaHei', fontSize: 12, fontWeight: 'bold', color: 'rgba(233,229,220,0.62)', letterSpacing: 3 }}&gt;&#10;                ENGLISH DUTY REPORT / 值日报告&#10;            &lt;/Text&gt;&#10;        &lt;/Box&gt;&#10;&#10;        &lt;Animation animType=&quot;wipe&quot; direction=&quot;left&quot; duration={500} startType=&quot;afterPrevious&quot;&gt;&#10;            &lt;Box style={{ width: 88, height: 3, background: '#D8482F', marginBottom: 26 }} /&gt;&#10;        &lt;/Animation&gt;&#10;&#10;        &lt;Animation animType=&quot;fadeIn&quot; duration={900} startType=&quot;afterPrevious&quot;&gt;&#10;            &lt;Text style={{ fontFamily: 'Georgia', fontSize: 112, fontWeight: 'bold', color: '#E9E5DC', letterSpacing: 3, lineHeight: 1.0, whiteSpace: 'nowrap' }}&gt;&#10;                ACTUALLY&#10;            &lt;/Text&gt;&#10;        &lt;/Animation&gt;&#10;&#10;        &lt;Animation animType=&quot;fadeIn&quot; duration={700} startType=&quot;afterPrevious&quot;&gt;&#10;            &lt;Box style={{ flexDirection: 'column', marginTop: 30 }}&gt;&#10;                &lt;Text style={{ fontFamily: 'Georgia', fontSize: 25, color: 'rgba(233,229,220,0.84)', lineHeight: 1.5 }}&gt;&#10;                    The man who played the clown&lt;br /&gt;&#10;                    so he could keep singing.&#10;                &lt;/Text&gt;&#10;            &lt;/Box&gt;&#10;        &lt;/Animation&gt;&#10;&#10;        &lt;Box style={{ flexDirection: 'row', alignItems: 'center', gap: 12, marginTop: 44 }}&gt;&#10;            &lt;Text style={{ fontFamily: 'Microsoft YaHei', fontSize: 14, color: 'rgba(233,229,220,0.5)', letterSpacing: 1 }}&gt;&#10;                薛之谦 · JOKER XUE&#10;            &lt;/Text&gt;&#10;            &lt;Box style={{ width: 1, height: 12, background: 'rgba(233,229,220,0.24)' }} /&gt;&#10;            &lt;Text style={{ fontFamily: 'Microsoft YaHei', fontSize: 14, color: 'rgba(233,229,220,0.5)', letterSpacing: 1 }}&gt;&#10;                《其实》 ACTUALLY · 2013&#10;            &lt;/Text&gt;&#10;        &lt;/Box&gt;&#10;    &lt;/Box&gt;&#10;&#10;    {/* 右下页码 */}&#10;    &lt;Box style={{ position: 'absolute', bottom: 26, right: 64 }}&gt;&#10;        &lt;Text style={{ fontFamily: 'Georgia', fontSize: 13, color: 'rgba(233,229,220,0.34)', letterSpacing: 2 }}&gt;&#10;            01 / 10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6186" r="0" b="618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E14"/>
              </a:gs>
              <a:gs pos="30000">
                <a:srgbClr val="0B0E14">
                  <a:alpha val="92000"/>
                </a:srgbClr>
              </a:gs>
              <a:gs pos="68000">
                <a:srgbClr val="0B0E14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23900" y="1428750"/>
            <a:ext cx="2695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E9E5DC">
                    <a:alpha val="62000"/>
                  </a:srgbClr>
                </a:solidFill>
                <a:latin typeface="Microsoft YaHei"/>
                <a:ea typeface="Microsoft YaHei"/>
              </a:rPr>
              <a:t xml:space="preserve">ENGLISH DUTY REPORT / </a:t>
            </a:r>
            <a:r>
              <a:rPr lang="zh-CN" sz="900" b="1" spc="225">
                <a:solidFill>
                  <a:srgbClr val="E9E5DC">
                    <a:alpha val="62000"/>
                  </a:srgbClr>
                </a:solidFill>
                <a:latin typeface="Microsoft YaHei"/>
                <a:ea typeface="Microsoft YaHei"/>
              </a:rPr>
              <a:t>值日报告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23900" y="1781175"/>
            <a:ext cx="838200" cy="28575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23900" y="2057400"/>
            <a:ext cx="64770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225">
                <a:solidFill>
                  <a:srgbClr val="E9E5DC"/>
                </a:solidFill>
                <a:latin typeface="Georgia"/>
                <a:ea typeface="Georgia"/>
              </a:rPr>
              <a:t>ACTUALLY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23900" y="3629025"/>
            <a:ext cx="6477000" cy="857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75">
                <a:solidFill>
                  <a:srgbClr val="E9E5DC">
                    <a:alpha val="84000"/>
                  </a:srgbClr>
                </a:solidFill>
                <a:latin typeface="Georgia"/>
                <a:ea typeface="Georgia"/>
              </a:rPr>
              <a:t>The man who played the clown</a:t>
            </a:r>
            <a:endParaRPr/>
          </a:p>
          <a:p>
            <a:pPr>
              <a:lnSpc>
                <a:spcPct val="150000"/>
              </a:lnSpc>
            </a:pPr>
            <a:r>
              <a:rPr lang="en-US" sz="1875">
                <a:solidFill>
                  <a:srgbClr val="E9E5DC">
                    <a:alpha val="84000"/>
                  </a:srgbClr>
                </a:solidFill>
                <a:latin typeface="Georgia"/>
                <a:ea typeface="Georgia"/>
              </a:rPr>
              <a:t>so he could keep singing.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4905375"/>
            <a:ext cx="136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薛之谦</a:t>
            </a:r>
            <a:r>
              <a:rPr lang="en-US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JOKER XUE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200275" y="4933950"/>
            <a:ext cx="9525" cy="114300"/>
          </a:xfrm>
          <a:prstGeom prst="rect">
            <a:avLst/>
          </a:prstGeom>
          <a:solidFill>
            <a:srgbClr val="E9E5DC">
              <a:alpha val="24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324100" y="49053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《其实》</a:t>
            </a:r>
            <a:r>
              <a:rPr lang="en-US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 xml:space="preserve"> ACTUALLY · 2013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068050" y="64579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01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1 — WHO HE IS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The one-minute version&#13;&#10;        &lt;/Text&gt;&#13;&#10;    &lt;/Box&gt;&#13;&#10;&#13;&#10;    {/* B · 内容区 */}&#13;&#10;    &lt;Box style={{ flexDirection: 'row', gap: 32, height: 520 }}&gt;&#13;&#10;&#13;&#10;        {/* 左：硬信息 */}&#13;&#10;        &lt;Box style={{ width: 700, flexDirection: 'column' }}&gt;&#13;&#10;&#13;&#10;            &lt;Animation animType=&quot;fadeIn&quot; duration={600} startType=&quot;afterPrevious&quot;&gt;&#13;&#10;                &lt;Box style={{ flexDirection: 'column' }}&gt;&#13;&#10;                    &lt;Box style={{ flexDirection: 'row', gap: 20, paddingBottom: 14, borderBottom: '1px solid rgba(233,229,220,0.12)' }}&gt;&#13;&#10;                        &lt;Text style={{ fontFamily: 'Georgia', fontSize: 24, fontWeight: 'bold', color: '#D8482F', width: 74 }}&gt;1983&lt;/Text&gt;&#13;&#10;                        &lt;Text style={{ fontFamily: 'Microsoft YaHei', fontSize: 17, color: 'rgba(233,229,220,0.86)', lineHeight: 1.55, width: 600 }}&gt;&#13;&#10;                            Born in Shanghai. His mother died when he was four; his father raised him alone.&#13;&#10;                        &lt;/Text&gt;&#13;&#10;                    &lt;/Box&gt;&#13;&#10;                    &lt;Box style={{ flexDirection: 'row', gap: 20, paddingTop: 14, paddingBottom: 14, borderBottom: '1px solid rgba(233,229,220,0.12)' }}&gt;&#13;&#10;                        &lt;Text style={{ fontFamily: 'Georgia', fontSize: 24, fontWeight: 'bold', color: '#D8482F', width: 74 }}&gt;2005&lt;/Text&gt;&#13;&#10;                        &lt;Text style={{ fontFamily: 'Microsoft YaHei', fontSize: 17, color: 'rgba(233,229,220,0.86)', lineHeight: 1.55, width: 600 }}&gt;&#13;&#10;                            Debuted at twenty-two through the TV talent show &lt;span style={{ fontStyle: 'italic' }}&gt;My Show&lt;/span&gt;.&#13;&#10;                        &lt;/Text&gt;&#13;&#10;                    &lt;/Box&gt;&#13;&#10;                    &lt;Box style={{ flexDirection: 'row', gap: 20, paddingTop: 14, paddingBottom: 14, borderBottom: '1px solid rgba(233,229,220,0.12)' }}&gt;&#13;&#10;                        &lt;Text style={{ fontFamily: 'Georgia', fontSize: 24, fontWeight: 'bold', color: '#D8482F', width: 74 }}&gt;2006&lt;/Text&gt;&#13;&#10;                        &lt;Text style={{ fontFamily: 'Microsoft YaHei', fontSize: 17, color: 'rgba(233,229,220,0.86)', lineHeight: 1.55, width: 600 }}&gt;&#13;&#10;                            《认真的雪》(&quot;Serious Snow&quot;) came out of every shop window in the country. He thought it was the start.&#13;&#10;                        &lt;/Text&gt;&#13;&#10;                    &lt;/Box&gt;&#13;&#10;                    &lt;Box style={{ flexDirection: 'row', gap: 20, paddingTop: 14, paddingBottom: 14, borderBottom: '1px solid rgba(233,229,220,0.12)' }}&gt;&#13;&#10;                        &lt;Text style={{ fontFamily: 'Georgia', fontSize: 24, fontWeight: 'bold', color: '#D8482F', width: 74 }}&gt;2015&lt;/Text&gt;&#13;&#10;                        &lt;Text style={{ fontFamily: 'Microsoft YaHei', fontSize: 17, color: 'rgba(233,229,220,0.86)', lineHeight: 1.55, width: 600 }}&gt;&#13;&#10;                            《演员》(&quot;Actor&quot;) made him famous a second time — nine years after the first time.&#13;&#10;                        &lt;/Text&gt;&#13;&#10;                    &lt;/Box&gt;&#13;&#10;                    &lt;Box style={{ flexDirection: 'row', gap: 20, paddingTop: 14 }}&gt;&#13;&#10;                        &lt;Text style={{ fontFamily: 'Georgia', fontSize: 24, fontWeight: 'bold', color: '#D8482F', width: 74 }}&gt;12&lt;/Text&gt;&#13;&#10;                        &lt;Text style={{ fontFamily: 'Microsoft YaHei', fontSize: 17, color: 'rgba(233,229,220,0.86)', lineHeight: 1.55, width: 600 }}&gt;&#13;&#10;                            Studio albums — and in almost all of them, the words are his own.&#13;&#10;                        &lt;/Text&gt;&#13;&#10;                    &lt;/Box&gt;&#13;&#10;                &lt;/Box&gt;&#13;&#10;            &lt;/Animation&gt;&#13;&#10;&#13;&#10;            &lt;Animation animType=&quot;fadeIn&quot; duration={700} startType=&quot;afterPrevious&quot;&gt;&#13;&#10;                &lt;Box style={{ marginTop: 'auto', paddingLeft: 18, borderLeft: '2px solid #D8482F' }}&gt;&#13;&#10;                    &lt;Text style={{ fontFamily: 'Microsoft YaHei', fontSize: 19, color: '#E9E5DC', lineHeight: 1.6 }}&gt;&#13;&#10;                        So when a Xue song hurts, it is not a hired writer guessing at feelings.&lt;br /&gt;&#13;&#10;                        &lt;span style={{ color: 'rgba(233,229,220,0.6)' }}&gt;It is the person who actually had them.&lt;/span&gt;&#13;&#10;                    &lt;/Text&gt;&#13;&#10;                &lt;/Box&gt;&#13;&#10;            &lt;/Animation&gt;&#13;&#10;&#13;&#10;        &lt;/Box&gt;&#13;&#10;&#13;&#10;        {/* 右：竖图 */}&#13;&#10;        &lt;Box style={{ width: 388, flexDirection: 'column' }}&gt;&#13;&#10;            &lt;Box style={{ width: 388, height: 440, borderRadius: 3, overflow: 'hidden', position: 'relative' }}&gt;&#13;&#10;                &lt;Image src=&quot;assets/mic_closeup.jpg&quot; style={{ width: 388, height: 440, objectFit: 'cover' }} /&gt;&#13;&#10;                &lt;Box style={{ position: 'absolute', bottom: 0, left: 0, width: 388, height: 120, background: 'linear-gradient(180deg, rgba(11,14,20,0) 0%, rgba(11,14,20,0.9) 100%)' }} /&gt;&#13;&#10;                &lt;Box style={{ position: 'absolute', bottom: 16, left: 18 }}&gt;&#13;&#10;                    &lt;Text style={{ fontFamily: 'Georgia', fontSize: 13, color: 'rgba(233,229,220,0.72)', letterSpacing: 1 }}&gt;&#13;&#10;                        FIG. 01 — the narrator&#13;&#10;                    &lt;/Text&gt;&#13;&#10;                &lt;/Box&gt;&#13;&#10;            &lt;/Box&gt;&#13;&#10;            &lt;Text style={{ fontFamily: 'Microsoft YaHei', fontSize: 13, color: 'rgba(233,229,220,0.42)', lineHeight: 1.6, marginTop: 12 }}&gt;&#13;&#10;                A microphone in a dark room: the only voice in his songs you can trust.&#13;&#10;            &lt;/Text&gt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2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381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01 — WHO HE IS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2105025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The one-minute version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1104900"/>
            <a:ext cx="6667500" cy="762000"/>
          </a:xfrm>
          <a:custGeom>
            <a:pathLst>
              <a:path w="700" h="80">
                <a:moveTo>
                  <a:pt x="0" y="79"/>
                </a:moveTo>
                <a:lnTo>
                  <a:pt x="700" y="79"/>
                </a:lnTo>
                <a:lnTo>
                  <a:pt x="70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70485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8482F"/>
                </a:solidFill>
                <a:latin typeface="Georgia"/>
                <a:ea typeface="Georgia"/>
              </a:rPr>
              <a:t>1983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504950" y="1104900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Born in Shanghai. His mother died when he was four; his father raised him alone.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1857375"/>
            <a:ext cx="6667500" cy="590550"/>
          </a:xfrm>
          <a:custGeom>
            <a:pathLst>
              <a:path w="700" h="62">
                <a:moveTo>
                  <a:pt x="0" y="61"/>
                </a:moveTo>
                <a:lnTo>
                  <a:pt x="700" y="61"/>
                </a:lnTo>
                <a:lnTo>
                  <a:pt x="70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704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8482F"/>
                </a:solidFill>
                <a:latin typeface="Georgia"/>
                <a:ea typeface="Georgia"/>
              </a:rPr>
              <a:t>2005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504950" y="1990725"/>
            <a:ext cx="57150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 xml:space="preserve">Debuted at twenty-two through the TV talent show </a:t>
            </a:r>
            <a:r>
              <a:rPr lang="en-US" sz="1275" i="1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My Show</a:t>
            </a: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2438400"/>
            <a:ext cx="6667500" cy="895350"/>
          </a:xfrm>
          <a:custGeom>
            <a:pathLst>
              <a:path w="700" h="94">
                <a:moveTo>
                  <a:pt x="0" y="93"/>
                </a:moveTo>
                <a:lnTo>
                  <a:pt x="700" y="93"/>
                </a:lnTo>
                <a:lnTo>
                  <a:pt x="700" y="94"/>
                </a:lnTo>
                <a:lnTo>
                  <a:pt x="0" y="94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70485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8482F"/>
                </a:solidFill>
                <a:latin typeface="Georgia"/>
                <a:ea typeface="Georgia"/>
              </a:rPr>
              <a:t>2006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504950" y="2571750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《认真的雪》</a:t>
            </a: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("Serious Snow") came out of every shop window in the country. He thought it was the start.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3324225"/>
            <a:ext cx="6667500" cy="895350"/>
          </a:xfrm>
          <a:custGeom>
            <a:pathLst>
              <a:path w="700" h="94">
                <a:moveTo>
                  <a:pt x="0" y="93"/>
                </a:moveTo>
                <a:lnTo>
                  <a:pt x="700" y="93"/>
                </a:lnTo>
                <a:lnTo>
                  <a:pt x="700" y="94"/>
                </a:lnTo>
                <a:lnTo>
                  <a:pt x="0" y="94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70485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8482F"/>
                </a:solidFill>
                <a:latin typeface="Georgia"/>
                <a:ea typeface="Georgia"/>
              </a:rPr>
              <a:t>2015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504950" y="3457575"/>
            <a:ext cx="5715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《演员》</a:t>
            </a: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("Actor") made him famous a second time — nine years after the first time.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4343400"/>
            <a:ext cx="704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8482F"/>
                </a:solidFill>
                <a:latin typeface="Georgia"/>
                <a:ea typeface="Georgia"/>
              </a:rPr>
              <a:t>12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504950" y="4343400"/>
            <a:ext cx="57150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9E5DC">
                    <a:alpha val="86000"/>
                  </a:srgbClr>
                </a:solidFill>
                <a:latin typeface="Microsoft YaHei"/>
                <a:ea typeface="Microsoft YaHei"/>
              </a:rPr>
              <a:t>Studio albums — and in almost all of them, the words are his own.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5362575"/>
            <a:ext cx="6686550" cy="695325"/>
          </a:xfrm>
          <a:custGeom>
            <a:pathLst>
              <a:path w="702" h="73">
                <a:moveTo>
                  <a:pt x="0" y="0"/>
                </a:moveTo>
                <a:lnTo>
                  <a:pt x="2" y="0"/>
                </a:lnTo>
                <a:lnTo>
                  <a:pt x="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8482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0100" y="5362575"/>
            <a:ext cx="64770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E9E5DC"/>
                </a:solidFill>
                <a:latin typeface="Microsoft YaHei"/>
                <a:ea typeface="Microsoft YaHei"/>
              </a:rPr>
              <a:t>So when a Xue song hurts, it is not a hired writer guessing at feelings.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E9E5DC">
                    <a:alpha val="60000"/>
                  </a:srgbClr>
                </a:solidFill>
                <a:latin typeface="Microsoft YaHei"/>
                <a:ea typeface="Microsoft YaHei"/>
              </a:rPr>
              <a:t>It is the person who actually had them.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581900" y="5410200"/>
            <a:ext cx="36957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A microphone in a dark room: the only voice in his songs you can trust.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02 / 10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581900" y="1104900"/>
            <a:ext cx="3695700" cy="4191000"/>
          </a:xfrm>
          <a:prstGeom prst="roundRect">
            <a:avLst>
              <a:gd name="adj" fmla="val 773"/>
            </a:avLst>
          </a:prstGeom>
          <a:ln/>
        </p:spPr>
        <p:txBody>
          <a:bodyPr/>
          <a:p/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"/>
          <a:srcRect l="0" t="11240" r="0" b="11240"/>
          <a:stretch>
            <a:fillRect/>
          </a:stretch>
        </p:blipFill>
        <p:spPr>
          <a:xfrm rot="0" flipH="0" flipV="0">
            <a:off x="7581900" y="1104900"/>
            <a:ext cx="3695700" cy="4191000"/>
          </a:xfrm>
          <a:prstGeom prst="rect">
            <a:avLst/>
          </a:prstGeom>
          <a:ln/>
        </p:spPr>
      </p:pic>
      <p:sp>
        <p:nvSpPr>
          <p:cNvPr id="65" name=""/>
          <p:cNvSpPr/>
          <p:nvPr/>
        </p:nvSpPr>
        <p:spPr>
          <a:xfrm rot="0" flipH="0" flipV="0">
            <a:off x="7581900" y="4152900"/>
            <a:ext cx="3695700" cy="1143000"/>
          </a:xfrm>
          <a:prstGeom prst="rect">
            <a:avLst/>
          </a:prstGeom>
          <a:gradFill>
            <a:gsLst>
              <a:gs pos="0">
                <a:srgbClr val="0B0E14">
                  <a:alpha val="0"/>
                </a:srgbClr>
              </a:gs>
              <a:gs pos="100000">
                <a:srgbClr val="0B0E14">
                  <a:alpha val="90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753350" y="4991100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72000"/>
                  </a:srgbClr>
                </a:solidFill>
                <a:latin typeface="Georgia"/>
                <a:ea typeface="Georgia"/>
              </a:rPr>
              <a:t>FIG. 01 — the narrator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7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2 — THE GAP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One snow, then seven silent years&#13;&#10;        &lt;/Text&gt;&#13;&#10;    &lt;/Box&gt;&#13;&#10;&#13;&#10;    {/* B · 内容区 */}&#13;&#10;    &lt;Box style={{ flexDirection: 'column', height: 520 }}&gt;&#13;&#10;&#13;&#10;        {/* 图片带 */}&#13;&#10;        &lt;Box style={{ width: 1152, height: 286, borderRadius: 3, overflow: 'hidden', position: 'relative' }}&gt;&#13;&#10;            &lt;Image src=&quot;assets/snow_street.jpg&quot; style={{ width: 1152, height: 286, objectFit: 'cover' }} /&gt;&#13;&#10;            &lt;Box style={{ position: 'absolute', top: 0, left: 0, width: 1152, height: 286, background: 'linear-gradient(180deg, rgba(11,14,20,0.2) 0%, rgba(11,14,20,0.92) 100%)' }} /&gt;&#13;&#10;&#13;&#10;            &lt;Box style={{ position: 'absolute', bottom: 22, left: 26 }}&gt;&#13;&#10;                &lt;Animation animType=&quot;fadeIn&quot; duration={700} startType=&quot;afterPrevious&quot;&gt;&#13;&#10;                    &lt;Text style={{ fontFamily: 'Georgia', fontSize: 40, fontWeight: 'bold', color: '#E9E5DC', letterSpacing: 1 }}&gt;&#13;&#10;                        2006 &lt;span style={{ color: '#D8482F' }}&gt;→&lt;/span&gt; 2015&#13;&#10;                    &lt;/Text&gt;&#13;&#10;                &lt;/Animation&gt;&#13;&#10;            &lt;/Box&gt;&#13;&#10;&#13;&#10;            &lt;Box style={{ position: 'absolute', top: 26, right: 28, width: 340, flexDirection: 'column', alignItems: 'flex-end' }}&gt;&#13;&#10;                &lt;Text style={{ fontFamily: 'Microsoft YaHei', fontSize: 15, color: 'rgba(233,229,220,0.9)', lineHeight: 1.6, textAlign: 'right' }}&gt;&#13;&#10;                    He never stopped writing.&lt;br /&gt;&#13;&#10;                    He stopped being advertised.&#13;&#10;                &lt;/Text&gt;&#13;&#10;            &lt;/Box&gt;&#13;&#10;        &lt;/Box&gt;&#13;&#10;&#13;&#10;        {/* 时间轴 */}&#13;&#10;        &lt;Box style={{ flexDirection: 'row', gap: 18, width: 1152, marginTop: 22 }}&gt;&#13;&#10;            &lt;Animation animType=&quot;fadeIn&quot; duration={600} startType=&quot;afterPrevious&quot;&gt;&#13;&#10;                &lt;Box style={{ width: 216, flexDirection: 'column' }}&gt;&#13;&#10;                    &lt;Box style={{ flexDirection: 'row', alignItems: 'center' }}&gt;&#13;&#10;                        &lt;Box style={{ width: 9, height: 9, borderRadius: 5, background: '#D8482F' }} /&gt;&#13;&#10;                        &lt;Box style={{ width: 207, height: 1, background: 'rgba(233,229,220,0.18)' }} /&gt;&#13;&#10;                    &lt;/Box&gt;&#13;&#10;                    &lt;Text style={{ fontFamily: 'Georgia', fontSize: 23, fontWeight: 'bold', color: '#E9E5DC', marginTop: 14 }}&gt;2006&lt;/Text&gt;&#13;&#10;                    &lt;Text style={{ fontFamily: 'Microsoft YaHei', fontSize: 14, color: 'rgba(233,229,220,0.72)', lineHeight: 1.65, marginTop: 8 }}&gt;&#13;&#10;                        《认真的雪》 in every shop in the country. He is twenty-three.&#13;&#10;                    &lt;/Text&gt;&#13;&#10;                &lt;/Box&gt;&#13;&#10;            &lt;/Animation&gt;&#13;&#10;            &lt;Box style={{ width: 216, flexDirection: 'column' }}&gt;&#13;&#10;                &lt;Box style={{ flexDirection: 'row', alignItems: 'center' }}&gt;&#13;&#10;                    &lt;Box style={{ width: 9, height: 9, borderRadius: 5, background: 'rgba(233,229,220,0.3)' }} /&gt;&#13;&#10;                    &lt;Box style={{ width: 207, height: 1, background: 'rgba(233,229,220,0.18)' }} /&gt;&#13;&#10;                &lt;/Box&gt;&#13;&#10;                &lt;Text style={{ fontFamily: 'Georgia', fontSize: 23, fontWeight: 'bold', color: 'rgba(233,229,220,0.78)', marginTop: 14 }}&gt;2008&lt;/Text&gt;&#13;&#10;                &lt;Text style={{ fontFamily: 'Microsoft YaHei', fontSize: 14, color: 'rgba(233,229,220,0.72)', lineHeight: 1.65, marginTop: 8 }}&gt;&#13;&#10;                    New management. No budget, no promotion, no stage.&#13;&#10;                &lt;/Text&gt;&#13;&#10;            &lt;/Box&gt;&#13;&#10;            &lt;Box style={{ width: 216, flexDirection: 'column' }}&gt;&#13;&#10;                &lt;Box style={{ flexDirection: 'row', alignItems: 'center' }}&gt;&#13;&#10;                    &lt;Box style={{ width: 9, height: 9, borderRadius: 5, background: 'rgba(233,229,220,0.3)' }} /&gt;&#13;&#10;                    &lt;Box style={{ width: 207, height: 1, background: 'rgba(233,229,220,0.18)' }} /&gt;&#13;&#10;                &lt;/Box&gt;&#13;&#10;                &lt;Text style={{ fontFamily: 'Georgia', fontSize: 23, fontWeight: 'bold', color: 'rgba(233,229,220,0.78)', marginTop: 14 }}&gt;2012&lt;/Text&gt;&#13;&#10;                &lt;Text style={{ fontFamily: 'Microsoft YaHei', fontSize: 14, color: 'rgba(233,229,220,0.72)', lineHeight: 1.65, marginTop: 8 }}&gt;&#13;&#10;                    The seven-year contract runs out. He is free — and forgotten.&#13;&#10;                &lt;/Text&gt;&#13;&#10;            &lt;/Box&gt;&#13;&#10;            &lt;Box style={{ width: 216, flexDirection: 'column' }}&gt;&#13;&#10;                &lt;Box style={{ flexDirection: 'row', alignItems: 'center' }}&gt;&#13;&#10;                    &lt;Box style={{ width: 9, height: 9, borderRadius: 5, background: '#D8482F' }} /&gt;&#13;&#10;                    &lt;Box style={{ width: 207, height: 1, background: 'rgba(233,229,220,0.18)' }} /&gt;&#13;&#10;                &lt;/Box&gt;&#13;&#10;                &lt;Text style={{ fontFamily: 'Georgia', fontSize: 23, fontWeight: 'bold', color: '#E9E5DC', marginTop: 14 }}&gt;2013&lt;/Text&gt;&#13;&#10;                &lt;Text style={{ fontFamily: 'Microsoft YaHei', fontSize: 14, color: 'rgba(233,229,220,0.72)', lineHeight: 1.65, marginTop: 8 }}&gt;&#13;&#10;                    《意外》 is released. Buried inside it: 《其实》.&#13;&#10;                &lt;/Text&gt;&#13;&#10;            &lt;/Box&gt;&#13;&#10;            &lt;Box style={{ width: 216, flexDirection: 'column' }}&gt;&#13;&#10;                &lt;Box style={{ flexDirection: 'row', alignItems: 'center' }}&gt;&#13;&#10;                    &lt;Box style={{ width: 9, height: 9, borderRadius: 5, background: '#D8482F' }} /&gt;&#13;&#10;                    &lt;Box style={{ width: 207, height: 1, background: 'rgba(233,229,220,0.18)' }} /&gt;&#13;&#10;                &lt;/Box&gt;&#13;&#10;                &lt;Text style={{ fontFamily: 'Georgia', fontSize: 23, fontWeight: 'bold', color: '#E9E5DC', marginTop: 14 }}&gt;2015&lt;/Text&gt;&#13;&#10;                &lt;Text style={{ fontFamily: 'Microsoft YaHei', fontSize: 14, color: 'rgba(233,229,220,0.72)', lineHeight: 1.65, marginTop: 8 }}&gt;&#13;&#10;                    《演员》. The second first time in his life.&#13;&#10;                &lt;/Text&gt;&#13;&#10;            &lt;/Box&gt;&#13;&#10;        &lt;/Box&gt;&#13;&#10;&#13;&#10;        {/* 判断条 */}&#13;&#10;        &lt;Box style={{ width: 1152, marginTop: 22, paddingTop: 18, paddingBottom: 18, paddingLeft: 22, paddingRight: 22, background: '#171E29', borderLeft: '3px solid #D8482F', flexDirection: 'row', alignItems: 'center', justifyContent: 'space-between' }}&gt;&#13;&#10;            &lt;Text style={{ fontFamily: 'Georgia', fontSize: 21, color: '#E9E5DC', lineHeight: 1.4 }}&gt;&#13;&#10;                He was not fading out. He was locked in — and he kept writing anyway.&#13;&#10;            &lt;/Text&gt;&#13;&#10;            &lt;Text style={{ fontFamily: 'Microsoft YaHei', fontSize: 13, color: 'rgba(233,229,220,0.45)', letterSpacing: 1 }}&gt;&#13;&#10;                4 albums in the silence&#13;&#10;            &lt;/Text&gt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3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190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02 — THE GAP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1914525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One snow, then seven silent years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4038600"/>
            <a:ext cx="85725" cy="85725"/>
          </a:xfrm>
          <a:prstGeom prst="roundRect">
            <a:avLst>
              <a:gd name="adj" fmla="val 55556"/>
            </a:avLst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95325" y="4076700"/>
            <a:ext cx="1971675" cy="9525"/>
          </a:xfrm>
          <a:prstGeom prst="rect">
            <a:avLst/>
          </a:prstGeom>
          <a:solidFill>
            <a:srgbClr val="E9E5DC">
              <a:alpha val="18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205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2006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4600575"/>
            <a:ext cx="2057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《认真的雪》</a:t>
            </a: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 xml:space="preserve"> in every shop in the country. He is twenty-three.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2838450" y="4038600"/>
            <a:ext cx="85725" cy="85725"/>
          </a:xfrm>
          <a:prstGeom prst="roundRect">
            <a:avLst>
              <a:gd name="adj" fmla="val 55556"/>
            </a:avLst>
          </a:prstGeom>
          <a:solidFill>
            <a:srgbClr val="E9E5DC">
              <a:alpha val="30000"/>
            </a:srgbClr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2924175" y="4076700"/>
            <a:ext cx="1971675" cy="9525"/>
          </a:xfrm>
          <a:prstGeom prst="rect">
            <a:avLst/>
          </a:prstGeom>
          <a:solidFill>
            <a:srgbClr val="E9E5DC">
              <a:alpha val="18000"/>
            </a:srgbClr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838450" y="4257675"/>
            <a:ext cx="205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9E5DC">
                    <a:alpha val="78000"/>
                  </a:srgbClr>
                </a:solidFill>
                <a:latin typeface="Georgia"/>
                <a:ea typeface="Georgia"/>
              </a:rPr>
              <a:t>2008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838450" y="4600575"/>
            <a:ext cx="2057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New management. No budget, no promotion, no stage.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067300" y="4038600"/>
            <a:ext cx="85725" cy="85725"/>
          </a:xfrm>
          <a:prstGeom prst="roundRect">
            <a:avLst>
              <a:gd name="adj" fmla="val 55556"/>
            </a:avLst>
          </a:prstGeom>
          <a:solidFill>
            <a:srgbClr val="E9E5DC">
              <a:alpha val="30000"/>
            </a:srgbClr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5153025" y="4076700"/>
            <a:ext cx="1971675" cy="9525"/>
          </a:xfrm>
          <a:prstGeom prst="rect">
            <a:avLst/>
          </a:prstGeom>
          <a:solidFill>
            <a:srgbClr val="E9E5DC">
              <a:alpha val="18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067300" y="4257675"/>
            <a:ext cx="205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9E5DC">
                    <a:alpha val="78000"/>
                  </a:srgbClr>
                </a:solidFill>
                <a:latin typeface="Georgia"/>
                <a:ea typeface="Georgia"/>
              </a:rPr>
              <a:t>2012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067300" y="4600575"/>
            <a:ext cx="2057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The seven-year contract runs out. He is free — and forgotten.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296150" y="4038600"/>
            <a:ext cx="85725" cy="85725"/>
          </a:xfrm>
          <a:prstGeom prst="roundRect">
            <a:avLst>
              <a:gd name="adj" fmla="val 55556"/>
            </a:avLst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7381875" y="4076700"/>
            <a:ext cx="1971675" cy="9525"/>
          </a:xfrm>
          <a:prstGeom prst="rect">
            <a:avLst/>
          </a:prstGeom>
          <a:solidFill>
            <a:srgbClr val="E9E5DC">
              <a:alpha val="18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296150" y="4257675"/>
            <a:ext cx="205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2013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296150" y="4600575"/>
            <a:ext cx="2057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《意外》</a:t>
            </a: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 xml:space="preserve"> is released. Buried inside it: </a:t>
            </a:r>
            <a:r>
              <a:rPr lang="zh-CN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《其实》</a:t>
            </a: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525000" y="4038600"/>
            <a:ext cx="85725" cy="85725"/>
          </a:xfrm>
          <a:prstGeom prst="roundRect">
            <a:avLst>
              <a:gd name="adj" fmla="val 55556"/>
            </a:avLst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9610725" y="4076700"/>
            <a:ext cx="1971675" cy="9525"/>
          </a:xfrm>
          <a:prstGeom prst="rect">
            <a:avLst/>
          </a:prstGeom>
          <a:solidFill>
            <a:srgbClr val="E9E5DC">
              <a:alpha val="18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525000" y="4257675"/>
            <a:ext cx="205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2015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525000" y="4600575"/>
            <a:ext cx="2057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《演员》</a:t>
            </a:r>
            <a:r>
              <a:rPr lang="en-US" sz="105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. The second first time in his life.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38175" y="5343525"/>
            <a:ext cx="10944225" cy="685800"/>
          </a:xfrm>
          <a:prstGeom prst="rect">
            <a:avLst/>
          </a:prstGeom>
          <a:solidFill>
            <a:srgbClr val="171E29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9600" y="5343525"/>
            <a:ext cx="10972800" cy="685800"/>
          </a:xfrm>
          <a:custGeom>
            <a:pathLst>
              <a:path w="1152" h="72">
                <a:moveTo>
                  <a:pt x="0" y="0"/>
                </a:moveTo>
                <a:lnTo>
                  <a:pt x="3" y="0"/>
                </a:lnTo>
                <a:lnTo>
                  <a:pt x="3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8482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47725" y="5514975"/>
            <a:ext cx="62769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E9E5DC"/>
                </a:solidFill>
                <a:latin typeface="Georgia"/>
                <a:ea typeface="Georgia"/>
              </a:rPr>
              <a:t>He was not fading out. He was locked in — and he kept writing anyway.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791700" y="5610225"/>
            <a:ext cx="158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45000"/>
                  </a:srgbClr>
                </a:solidFill>
                <a:latin typeface="Microsoft YaHei"/>
                <a:ea typeface="Microsoft YaHei"/>
              </a:rPr>
              <a:t>4 albums in the silence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03 / 10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104900"/>
            <a:ext cx="10972800" cy="2724150"/>
          </a:xfrm>
          <a:prstGeom prst="roundRect">
            <a:avLst>
              <a:gd name="adj" fmla="val 1049"/>
            </a:avLst>
          </a:prstGeom>
          <a:ln/>
        </p:spPr>
        <p:txBody>
          <a:bodyPr/>
          <a:p/>
        </p:txBody>
      </p:sp>
      <p:pic>
        <p:nvPicPr>
          <p:cNvPr id="99" name=""/>
          <p:cNvPicPr>
            <a:picLocks noChangeAspect="1"/>
          </p:cNvPicPr>
          <p:nvPr/>
        </p:nvPicPr>
        <p:blipFill>
          <a:blip r:embed="rId1"/>
          <a:srcRect l="0" t="30662" r="0" b="30662"/>
          <a:stretch>
            <a:fillRect/>
          </a:stretch>
        </p:blipFill>
        <p:spPr>
          <a:xfrm rot="0" flipH="0" flipV="0">
            <a:off x="609600" y="1104900"/>
            <a:ext cx="10972800" cy="2724150"/>
          </a:xfrm>
          <a:prstGeom prst="rect">
            <a:avLst/>
          </a:prstGeom>
          <a:ln/>
        </p:spPr>
      </p:pic>
      <p:sp>
        <p:nvSpPr>
          <p:cNvPr id="100" name=""/>
          <p:cNvSpPr/>
          <p:nvPr/>
        </p:nvSpPr>
        <p:spPr>
          <a:xfrm rot="0" flipH="0" flipV="0">
            <a:off x="609600" y="1104900"/>
            <a:ext cx="10972800" cy="2724150"/>
          </a:xfrm>
          <a:prstGeom prst="rect">
            <a:avLst/>
          </a:prstGeom>
          <a:gradFill>
            <a:gsLst>
              <a:gs pos="0">
                <a:srgbClr val="0B0E14">
                  <a:alpha val="20000"/>
                </a:srgbClr>
              </a:gs>
              <a:gs pos="100000">
                <a:srgbClr val="0B0E14">
                  <a:alpha val="9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3162300"/>
            <a:ext cx="2667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75">
                <a:solidFill>
                  <a:srgbClr val="E9E5DC"/>
                </a:solidFill>
                <a:latin typeface="Georgia"/>
                <a:ea typeface="Georgia"/>
              </a:rPr>
              <a:t xml:space="preserve">2006 </a:t>
            </a:r>
            <a:r>
              <a:rPr sz="3000" b="1" spc="75">
                <a:solidFill>
                  <a:srgbClr val="D8482F"/>
                </a:solidFill>
                <a:latin typeface="Georgia"/>
                <a:ea typeface="Georgia"/>
              </a:rPr>
              <a:t>→</a:t>
            </a:r>
            <a:r>
              <a:rPr lang="en-US" sz="3000" b="1" spc="75">
                <a:solidFill>
                  <a:srgbClr val="E9E5DC"/>
                </a:solidFill>
                <a:latin typeface="Georgia"/>
                <a:ea typeface="Georgia"/>
              </a:rPr>
              <a:t xml:space="preserve"> 2015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286875" y="1352550"/>
            <a:ext cx="2028825" cy="552450"/>
          </a:xfrm>
          <a:prstGeom prst="rect"/>
        </p:spPr>
        <p:txBody>
          <a:bodyPr wrap="none" lIns="0" tIns="0" rIns="0" bIns="0"/>
          <a:p>
            <a:pPr algn="r"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90000"/>
                  </a:srgbClr>
                </a:solidFill>
                <a:latin typeface="Microsoft YaHei"/>
                <a:ea typeface="Microsoft YaHei"/>
              </a:rPr>
              <a:t>He never stopped writing.</a:t>
            </a:r>
            <a:endParaRPr/>
          </a:p>
          <a:p>
            <a:pPr algn="r"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90000"/>
                  </a:srgbClr>
                </a:solidFill>
                <a:latin typeface="Microsoft YaHei"/>
                <a:ea typeface="Microsoft YaHei"/>
              </a:rPr>
              <a:t>He stopped being advertised.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3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3 — THE MONEY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The clown who paid for the songs&#13;&#10;        &lt;/Text&gt;&#13;&#10;    &lt;/Box&gt;&#13;&#10;&#13;&#10;    {/* B · 内容区 */}&#13;&#10;    &lt;Box style={{ flexDirection: 'row', gap: 34, height: 520 }}&gt;&#13;&#10;&#13;&#10;        {/* 左：大图 */}&#13;&#10;        &lt;Box style={{ width: 618, height: 520, borderRadius: 3, overflow: 'hidden', position: 'relative' }}&gt;&#13;&#10;            &lt;Image src=&quot;assets/hotpot_window.jpg&quot; style={{ width: 618, height: 520, objectFit: 'cover' }} /&gt;&#13;&#10;            &lt;Box style={{ position: 'absolute', top: 0, left: 0, width: 618, height: 520, background: 'linear-gradient(180deg, rgba(11,14,20,0) 55%, rgba(11,14,20,0.88) 100%)' }} /&gt;&#13;&#10;            &lt;Box style={{ position: 'absolute', bottom: 22, left: 24 }}&gt;&#13;&#10;                &lt;Text style={{ fontFamily: 'Georgia', fontSize: 13, color: 'rgba(233,229,220,0.78)', letterSpacing: 1 }}&gt;&#13;&#10;                    FIG. 02 — 上上谦, Shanghai&#13;&#10;                &lt;/Text&gt;&#13;&#10;                &lt;Text style={{ fontFamily: 'Microsoft YaHei', fontSize: 13, color: 'rgba(233,229,220,0.5)', marginTop: 6 }}&gt;&#13;&#10;                    Steam on the glass. Rent for the studio came from here.&#13;&#10;                &lt;/Text&gt;&#13;&#10;            &lt;/Box&gt;&#13;&#10;        &lt;/Box&gt;&#13;&#10;&#13;&#10;        {/* 右：文字 */}&#13;&#10;        &lt;Box style={{ width: 500, height: 520, flexDirection: 'column', justifyContent: 'space-between' }}&gt;&#13;&#10;            &lt;Animation animType=&quot;fadeIn&quot; duration={600} startType=&quot;afterPrevious&quot;&gt;&#13;&#10;                &lt;Box style={{ flexDirection: 'column' }}&gt;&#13;&#10;                    &lt;Text style={{ fontFamily: 'Microsoft YaHei', fontSize: 20, color: '#E9E5DC', lineHeight: 1.6 }}&gt;&#13;&#10;                        Between 2008 and 2014 he was, by his own word, unfashionable.&#13;&#10;                        &lt;span style={{ color: 'rgba(233,229,220,0.55)' }}&gt; So he stopped waiting for the industry and started paying for it himself.&lt;/span&gt;&#13;&#10;                    &lt;/Text&gt;&#13;&#10;&#13;&#10;                    &lt;Box style={{ flexDirection: 'row', gap: 14, marginTop: 26 }}&gt;&#13;&#10;                        &lt;Box style={{ width: 2, height: 15, background: '#D8482F', marginTop: 7 }} /&gt;&#13;&#10;                        &lt;Text style={{ fontFamily: 'Microsoft YaHei', fontSize: 17, color: 'rgba(233,229,220,0.84)', lineHeight: 1.65, width: 470 }}&gt;&#13;&#10;                            A hotpot restaurant in Shanghai. He argued with suppliers over the price of every crate.&#13;&#10;                        &lt;/Text&gt;&#13;&#10;                    &lt;/Box&gt;&#13;&#10;                    &lt;Box style={{ flexDirection: 'row', gap: 14, marginTop: 14 }}&gt;&#13;&#10;                        &lt;Box style={{ width: 2, height: 15, background: '#D8482F', marginTop: 7 }} /&gt;&#13;&#10;                        &lt;Text style={{ fontFamily: 'Microsoft YaHei', fontSize: 17, color: 'rgba(233,229,220,0.84)', lineHeight: 1.65, width: 470 }}&gt;&#13;&#10;                            Three clothing labels, sold online — where he answered the customers in person.&#13;&#10;                        &lt;/Text&gt;&#13;&#10;                    &lt;/Box&gt;&#13;&#10;                    &lt;Box style={{ flexDirection: 'row', gap: 14, marginTop: 14 }}&gt;&#13;&#10;                        &lt;Box style={{ width: 2, height: 15, background: '#D8482F', marginTop: 7 }} /&gt;&#13;&#10;                        &lt;Text style={{ fontFamily: 'Microsoft YaHei', fontSize: 17, color: 'rgba(233,229,220,0.84)', lineHeight: 1.65, width: 470 }}&gt;&#13;&#10;                            Forty variety shows in a single year, being laughed at on purpose.&#13;&#10;                        &lt;/Text&gt;&#13;&#10;                    &lt;/Box&gt;&#13;&#10;                &lt;/Box&gt;&#13;&#10;            &lt;/Animation&gt;&#13;&#10;&#13;&#10;            &lt;Animation animType=&quot;fadeIn&quot; duration={700} startType=&quot;afterPrevious&quot;&gt;&#13;&#10;                &lt;Box style={{ flexDirection: 'column' }}&gt;&#13;&#10;                    &lt;Box style={{ paddingTop: 18, paddingLeft: 18, borderTop: '1px solid rgba(233,229,220,0.14)', borderLeft: '2px solid #D8482F' }}&gt;&#13;&#10;                        &lt;Text style={{ fontFamily: 'Georgia', fontSize: 23, color: '#E9E5DC', lineHeight: 1.5 }}&gt;&#13;&#10;                            &quot;None of it was the plan.&lt;br /&gt;All of it was the budget.&quot;&#13;&#10;                        &lt;/Text&gt;&#13;&#10;                    &lt;/Box&gt;&#13;&#10;                &lt;/Box&gt;&#13;&#10;            &lt;/Animation&gt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4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447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03 — THE MONEY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2171700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The clown who paid for the songs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19900" y="1104900"/>
            <a:ext cx="47625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E9E5DC"/>
                </a:solidFill>
                <a:latin typeface="Microsoft YaHei"/>
                <a:ea typeface="Microsoft YaHei"/>
              </a:rPr>
              <a:t>Between 2008 and 2014 he was, by his own word, unfashionable.</a:t>
            </a:r>
            <a:r>
              <a:rPr lang="en-US" sz="150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 xml:space="preserve"> So he stopped waiting for the industry and started paying for it himself.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819900" y="2524125"/>
            <a:ext cx="19050" cy="142875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972300" y="2457450"/>
            <a:ext cx="4476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E9E5DC">
                    <a:alpha val="84000"/>
                  </a:srgbClr>
                </a:solidFill>
                <a:latin typeface="Microsoft YaHei"/>
                <a:ea typeface="Microsoft YaHei"/>
              </a:rPr>
              <a:t>A hotpot restaurant in Shanghai. He argued with suppliers over the price of every crate.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819900" y="3305175"/>
            <a:ext cx="19050" cy="142875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972300" y="3238500"/>
            <a:ext cx="4476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E9E5DC">
                    <a:alpha val="84000"/>
                  </a:srgbClr>
                </a:solidFill>
                <a:latin typeface="Microsoft YaHei"/>
                <a:ea typeface="Microsoft YaHei"/>
              </a:rPr>
              <a:t>Three clothing labels, sold online — where he answered the customers in person.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819900" y="4086225"/>
            <a:ext cx="19050" cy="142875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972300" y="4019550"/>
            <a:ext cx="44767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E9E5DC">
                    <a:alpha val="84000"/>
                  </a:srgbClr>
                </a:solidFill>
                <a:latin typeface="Microsoft YaHei"/>
                <a:ea typeface="Microsoft YaHei"/>
              </a:rPr>
              <a:t>Forty variety shows in a single year, being laughed at on purpose.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819900" y="5086350"/>
            <a:ext cx="4781550" cy="981075"/>
          </a:xfrm>
          <a:custGeom>
            <a:pathLst>
              <a:path w="502" h="103">
                <a:moveTo>
                  <a:pt x="0" y="0"/>
                </a:moveTo>
                <a:lnTo>
                  <a:pt x="2" y="1"/>
                </a:lnTo>
                <a:lnTo>
                  <a:pt x="2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D8482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819900" y="5086350"/>
            <a:ext cx="4781550" cy="981075"/>
          </a:xfrm>
          <a:custGeom>
            <a:pathLst>
              <a:path w="502" h="103">
                <a:moveTo>
                  <a:pt x="0" y="0"/>
                </a:moveTo>
                <a:lnTo>
                  <a:pt x="502" y="0"/>
                </a:lnTo>
                <a:lnTo>
                  <a:pt x="502" y="1"/>
                </a:lnTo>
                <a:lnTo>
                  <a:pt x="2" y="1"/>
                </a:lnTo>
                <a:close/>
              </a:path>
            </a:pathLst>
          </a:custGeom>
          <a:solidFill>
            <a:srgbClr val="E9E5DC">
              <a:alpha val="14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010400" y="5267325"/>
            <a:ext cx="4572000" cy="7905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E9E5DC"/>
                </a:solidFill>
                <a:latin typeface="Georgia"/>
                <a:ea typeface="Georgia"/>
              </a:rPr>
              <a:t>"None of it was the plan.</a:t>
            </a:r>
            <a:endParaRPr/>
          </a:p>
          <a:p>
            <a:pPr>
              <a:lnSpc>
                <a:spcPct val="150000"/>
              </a:lnSpc>
            </a:pPr>
            <a:r>
              <a:rPr lang="en-US" sz="1725">
                <a:solidFill>
                  <a:srgbClr val="E9E5DC"/>
                </a:solidFill>
                <a:latin typeface="Georgia"/>
                <a:ea typeface="Georgia"/>
              </a:rPr>
              <a:t>All of it was the budget."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04 / 10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104900"/>
            <a:ext cx="5886450" cy="4953000"/>
          </a:xfrm>
          <a:prstGeom prst="roundRect">
            <a:avLst>
              <a:gd name="adj" fmla="val 577"/>
            </a:avLst>
          </a:prstGeom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 r:embed="rId1"/>
          <a:srcRect l="0" t="21241" r="0" b="21241"/>
          <a:stretch>
            <a:fillRect/>
          </a:stretch>
        </p:blipFill>
        <p:spPr>
          <a:xfrm rot="0" flipH="0" flipV="0">
            <a:off x="609600" y="1104900"/>
            <a:ext cx="5886450" cy="4953000"/>
          </a:xfrm>
          <a:prstGeom prst="rect">
            <a:avLst/>
          </a:prstGeom>
          <a:ln/>
        </p:spPr>
      </p:pic>
      <p:sp>
        <p:nvSpPr>
          <p:cNvPr id="122" name=""/>
          <p:cNvSpPr/>
          <p:nvPr/>
        </p:nvSpPr>
        <p:spPr>
          <a:xfrm rot="0" flipH="0" flipV="0">
            <a:off x="609600" y="1104900"/>
            <a:ext cx="5886450" cy="4953000"/>
          </a:xfrm>
          <a:prstGeom prst="rect">
            <a:avLst/>
          </a:prstGeom>
          <a:gradFill>
            <a:gsLst>
              <a:gs pos="55000">
                <a:srgbClr val="0B0E14">
                  <a:alpha val="0"/>
                </a:srgbClr>
              </a:gs>
              <a:gs pos="100000">
                <a:srgbClr val="0B0E14">
                  <a:alpha val="8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3305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78000"/>
                  </a:srgbClr>
                </a:solidFill>
                <a:latin typeface="Georgia"/>
                <a:ea typeface="Georgia"/>
              </a:rPr>
              <a:t xml:space="preserve">FIG. 02 — </a:t>
            </a:r>
            <a:r>
              <a:rPr lang="zh-CN" sz="975" spc="75">
                <a:solidFill>
                  <a:srgbClr val="E9E5DC">
                    <a:alpha val="78000"/>
                  </a:srgbClr>
                </a:solidFill>
                <a:latin typeface="Georgia"/>
                <a:ea typeface="Georgia"/>
              </a:rPr>
              <a:t>上上谦</a:t>
            </a:r>
            <a:r>
              <a:rPr lang="en-US" sz="975" spc="75">
                <a:solidFill>
                  <a:srgbClr val="E9E5DC">
                    <a:alpha val="78000"/>
                  </a:srgbClr>
                </a:solidFill>
                <a:latin typeface="Georgia"/>
                <a:ea typeface="Georgia"/>
              </a:rPr>
              <a:t>, Shanghai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5695950"/>
            <a:ext cx="3305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Steam on the glass. Rent for the studio came from here.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2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5" name="" descr="&lt;Slide style={{ width: 1280, height: 720, padding: '20px 64px', background: '#0B0E14', flexDirection: 'column' }}&gt;&#13;&#10;&#13;&#10;    {/* A · 标题块 */}&#13;&#10;    &lt;Box style={{ flexDirection: 'row', height: 96, alignItems: 'center', justifyContent: 'space-between' }}&gt;&#13;&#10;        &lt;Box style={{ flexDirection: 'column' }}&gt;&#13;&#10;            &lt;Box style={{ flexDirection: 'row', alignItems: 'center', gap: 12, marginBottom: 10 }}&gt;&#13;&#10;                &lt;Text style={{ fontFamily: 'Microsoft YaHei', fontSize: 12, fontWeight: 'bold', color: '#D8482F', letterSpacing: 3 }}&gt;&#13;&#10;                    04 — THE SCALE&#13;&#10;                &lt;/Text&gt;&#13;&#10;                &lt;Box style={{ width: 46, height: 1, background: 'rgba(233,229,220,0.22)' }} /&gt;&#13;&#10;            &lt;/Box&gt;&#13;&#10;            &lt;Text style={{ fontFamily: 'Georgia', fontSize: 34, fontWeight: 'bold', color: '#E9E5DC' }}&gt;&#13;&#10;                What the numbers say&#13;&#10;            &lt;/Text&gt;&#13;&#10;        &lt;/Box&gt;&#13;&#10;        &lt;Box style={{ flexDirection: 'column', alignItems: 'flex-end' }}&gt;&#13;&#10;            &lt;Text style={{ fontFamily: 'Microsoft YaHei', fontSize: 12, color: 'rgba(233,229,220,0.45)', letterSpacing: 2 }}&gt;&#13;&#10;                2021 — 2024&#13;&#10;            &lt;/Text&gt;&#13;&#10;            &lt;Text style={{ fontFamily: 'Microsoft YaHei', fontSize: 15, color: 'rgba(233,229,220,0.8)', marginTop: 8 }}&gt;&#13;&#10;                天外来物 · WORLD TOUR&#13;&#10;            &lt;/Text&gt;&#13;&#10;        &lt;/Box&gt;&#13;&#10;    &lt;/Box&gt;&#13;&#10;&#13;&#10;    {/* B · 内容区 */}&#13;&#10;    &lt;Box style={{ flexDirection: 'row', gap: 34, height: 520 }}&gt;&#13;&#10;&#13;&#10;        {/* 左：四组数字 */}&#13;&#10;        &lt;Box style={{ width: 688, height: 520, flexDirection: 'column' }}&gt;&#13;&#10;&#13;&#10;            &lt;Animation animType=&quot;fadeIn&quot; duration={700} startType=&quot;afterPrevious&quot;&gt;&#13;&#10;                &lt;Box style={{ flexDirection: 'row', gap: 36, paddingBottom: 26, borderBottom: '1px solid rgba(233,229,220,0.14)' }}&gt;&#13;&#10;                    &lt;Box style={{ width: 326, flexDirection: 'column' }}&gt;&#13;&#10;                        &lt;Text style={{ fontFamily: 'Georgia', fontSize: 88, fontWeight: 'bold', color: '#D8482F', lineHeight: 1.0 }}&gt;140&lt;/Text&gt;&#13;&#10;                        &lt;Text style={{ fontFamily: 'Microsoft YaHei', fontSize: 16, fontWeight: 'bold', color: '#E9E5DC', marginTop: 12, letterSpacing: 1 }}&gt;SHOWS&lt;/Text&gt;&#13;&#10;                        &lt;Text style={{ fontFamily: 'Microsoft YaHei', fontSize: 14, color: 'rgba(233,229,220,0.52)', marginTop: 6, lineHeight: 1.55 }}&gt;one tour, four years, 天外来物&lt;/Text&gt;&#13;&#10;                    &lt;/Box&gt;&#13;&#10;                    &lt;Box style={{ width: 326, flexDirection: 'column' }}&gt;&#13;&#10;                        &lt;Text style={{ fontFamily: 'Georgia', fontSize: 88, fontWeight: 'bold', color: '#E9E5DC', lineHeight: 1.0 }}&gt;4.9M&lt;/Text&gt;&#13;&#10;                        &lt;Text style={{ fontFamily: 'Microsoft YaHei', fontSize: 16, fontWeight: 'bold', color: '#E9E5DC', marginTop: 12, letterSpacing: 1 }}&gt;PEOPLE&lt;/Text&gt;&#13;&#10;                        &lt;Text style={{ fontFamily: 'Microsoft YaHei', fontSize: 14, color: 'rgba(233,229,220,0.52)', marginTop: 6, lineHeight: 1.55 }}&gt;bought a ticket, showed up, sang along&lt;/Text&gt;&#13;&#10;                    &lt;/Box&gt;&#13;&#10;                &lt;/Box&gt;&#13;&#10;            &lt;/Animation&gt;&#13;&#10;&#13;&#10;            &lt;Animation animType=&quot;fadeIn&quot; duration={700} startType=&quot;afterPrevious&quot;&gt;&#13;&#10;                &lt;Box style={{ flexDirection: 'row', gap: 36, paddingTop: 26, paddingBottom: 26, borderBottom: '1px solid rgba(233,229,220,0.14)' }}&gt;&#13;&#10;                    &lt;Box style={{ width: 326, flexDirection: 'column' }}&gt;&#13;&#10;                        &lt;Text style={{ fontFamily: 'Georgia', fontSize: 88, fontWeight: 'bold', color: '#E9E5DC', lineHeight: 1.0 }}&gt;6&lt;/Text&gt;&#13;&#10;                        &lt;Text style={{ fontFamily: 'Microsoft YaHei', fontSize: 16, fontWeight: 'bold', color: '#E9E5DC', marginTop: 12, letterSpacing: 1 }}&gt;CONTINENTS&lt;/Text&gt;&#13;&#10;                        &lt;Text style={{ fontFamily: 'Microsoft YaHei', fontSize: 14, color: 'rgba(233,229,220,0.52)', marginTop: 6, lineHeight: 1.55 }}&gt;a Chinese pop singer, touring like a rock band&lt;/Text&gt;&#13;&#10;                    &lt;/Box&gt;&#13;&#10;                    &lt;Box style={{ width: 326, flexDirection: 'column' }}&gt;&#13;&#10;                        &lt;Text style={{ fontFamily: 'Georgia', fontSize: 88, fontWeight: 'bold', color: '#D8482F', lineHeight: 1.0 }}&gt;2023&lt;/Text&gt;&#13;&#10;                        &lt;Text style={{ fontFamily: 'Microsoft YaHei', fontSize: 16, fontWeight: 'bold', color: '#E9E5DC', marginTop: 12, letterSpacing: 1 }}&gt;BIRD'S NEST&lt;/Text&gt;&#13;&#10;                        &lt;Text style={{ fontFamily: 'Microsoft YaHei', fontSize: 14, color: 'rgba(233,229,220,0.52)', marginTop: 6, lineHeight: 1.55 }}&gt;the dream he said out loud in 2005&lt;/Text&gt;&#13;&#10;                    &lt;/Box&gt;&#13;&#10;                &lt;/Box&gt;&#13;&#10;            &lt;/Animation&gt;&#13;&#10;&#13;&#10;            &lt;Animation animType=&quot;fadeIn&quot; duration={700} startType=&quot;afterPrevious&quot;&gt;&#13;&#10;                &lt;Box style={{ marginTop: 24, paddingLeft: 20, borderLeft: '3px solid #D8482F' }}&gt;&#13;&#10;                    &lt;Text style={{ fontFamily: 'Georgia', fontSize: 21, color: '#E9E5DC', lineHeight: 1.45 }}&gt;&#13;&#10;                        The comeback could have been cashed in.&lt;br /&gt;&#13;&#10;                        &lt;span style={{ color: 'rgba(233,229,220,0.6)' }}&gt;Instead it was converted into 140 nights of singing.&lt;/span&gt;&#13;&#10;                    &lt;/Text&gt;&#13;&#10;                &lt;/Box&gt;&#13;&#10;            &lt;/Animation&gt;&#13;&#10;&#13;&#10;        &lt;/Box&gt;&#13;&#10;&#13;&#10;        {/* 右：图 */}&#13;&#10;        &lt;Box style={{ width: 430, flexDirection: 'column' }}&gt;&#13;&#10;            &lt;Box style={{ width: 430, height: 408, borderRadius: 3, overflow: 'hidden' }}&gt;&#13;&#10;                &lt;Image src=&quot;assets/crowd_lights.jpg&quot; style={{ width: 430, height: 408, objectFit: 'cover' }} /&gt;&#13;&#10;            &lt;/Box&gt;&#13;&#10;            &lt;Text style={{ fontFamily: 'Microsoft YaHei', fontSize: 13, color: 'rgba(233,229,220,0.42)', lineHeight: 1.65, marginTop: 14 }}&gt;&#13;&#10;                FIG. 03 — phone lights, 2023. People still pay to hear a man be sad in public.&#13;&#10;            &lt;/Text&gt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5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36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04 — THE SCALE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2085975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373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What the numbers say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639425" y="457200"/>
            <a:ext cx="942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E9E5DC">
                    <a:alpha val="45000"/>
                  </a:srgbClr>
                </a:solidFill>
                <a:latin typeface="Microsoft YaHei"/>
                <a:ea typeface="Microsoft YaHei"/>
              </a:rPr>
              <a:t>2021 — 2024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915525" y="676275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9E5DC">
                    <a:alpha val="80000"/>
                  </a:srgbClr>
                </a:solidFill>
                <a:latin typeface="Microsoft YaHei"/>
                <a:ea typeface="Microsoft YaHei"/>
              </a:rPr>
              <a:t>天外来物</a:t>
            </a:r>
            <a:r>
              <a:rPr lang="en-US" sz="1125">
                <a:solidFill>
                  <a:srgbClr val="E9E5DC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WORLD TOUR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1104900"/>
            <a:ext cx="6553200" cy="1895475"/>
          </a:xfrm>
          <a:custGeom>
            <a:pathLst>
              <a:path w="688" h="199">
                <a:moveTo>
                  <a:pt x="0" y="198"/>
                </a:moveTo>
                <a:lnTo>
                  <a:pt x="688" y="198"/>
                </a:lnTo>
                <a:lnTo>
                  <a:pt x="688" y="199"/>
                </a:lnTo>
                <a:lnTo>
                  <a:pt x="0" y="199"/>
                </a:lnTo>
                <a:close/>
              </a:path>
            </a:pathLst>
          </a:custGeom>
          <a:solidFill>
            <a:srgbClr val="E9E5DC">
              <a:alpha val="14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31051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D8482F"/>
                </a:solidFill>
                <a:latin typeface="Georgia"/>
                <a:ea typeface="Georgia"/>
              </a:rPr>
              <a:t>140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E9E5DC"/>
                </a:solidFill>
                <a:latin typeface="Microsoft YaHei"/>
                <a:ea typeface="Microsoft YaHei"/>
              </a:rPr>
              <a:t>SHOWS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24765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E9E5DC">
                    <a:alpha val="52000"/>
                  </a:srgbClr>
                </a:solidFill>
                <a:latin typeface="Microsoft YaHei"/>
                <a:ea typeface="Microsoft YaHei"/>
              </a:rPr>
              <a:t xml:space="preserve">one tour, four years, </a:t>
            </a:r>
            <a:r>
              <a:rPr lang="zh-CN" sz="1050">
                <a:solidFill>
                  <a:srgbClr val="E9E5DC">
                    <a:alpha val="52000"/>
                  </a:srgbClr>
                </a:solidFill>
                <a:latin typeface="Microsoft YaHei"/>
                <a:ea typeface="Microsoft YaHei"/>
              </a:rPr>
              <a:t>天外来物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057650" y="1104900"/>
            <a:ext cx="31051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9E5DC"/>
                </a:solidFill>
                <a:latin typeface="Georgia"/>
                <a:ea typeface="Georgia"/>
              </a:rPr>
              <a:t>4.9M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057650" y="22288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E9E5DC"/>
                </a:solidFill>
                <a:latin typeface="Microsoft YaHei"/>
                <a:ea typeface="Microsoft YaHei"/>
              </a:rPr>
              <a:t>PEOPLE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057650" y="24765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E9E5DC">
                    <a:alpha val="52000"/>
                  </a:srgbClr>
                </a:solidFill>
                <a:latin typeface="Microsoft YaHei"/>
                <a:ea typeface="Microsoft YaHei"/>
              </a:rPr>
              <a:t>bought a ticket, showed up, sang along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2990850"/>
            <a:ext cx="6553200" cy="2143125"/>
          </a:xfrm>
          <a:custGeom>
            <a:pathLst>
              <a:path w="688" h="225">
                <a:moveTo>
                  <a:pt x="0" y="224"/>
                </a:moveTo>
                <a:lnTo>
                  <a:pt x="688" y="224"/>
                </a:lnTo>
                <a:lnTo>
                  <a:pt x="688" y="225"/>
                </a:lnTo>
                <a:lnTo>
                  <a:pt x="0" y="225"/>
                </a:lnTo>
                <a:close/>
              </a:path>
            </a:pathLst>
          </a:custGeom>
          <a:solidFill>
            <a:srgbClr val="E9E5DC">
              <a:alpha val="14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31051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9E5DC"/>
                </a:solidFill>
                <a:latin typeface="Georgia"/>
                <a:ea typeface="Georgia"/>
              </a:rPr>
              <a:t>6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43624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E9E5DC"/>
                </a:solidFill>
                <a:latin typeface="Microsoft YaHei"/>
                <a:ea typeface="Microsoft YaHei"/>
              </a:rPr>
              <a:t>CONTINENTS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46101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E9E5DC">
                    <a:alpha val="52000"/>
                  </a:srgbClr>
                </a:solidFill>
                <a:latin typeface="Microsoft YaHei"/>
                <a:ea typeface="Microsoft YaHei"/>
              </a:rPr>
              <a:t>a Chinese pop singer, touring like a rock band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057650" y="3238500"/>
            <a:ext cx="31051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D8482F"/>
                </a:solidFill>
                <a:latin typeface="Georgia"/>
                <a:ea typeface="Georgia"/>
              </a:rPr>
              <a:t>2023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057650" y="43624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E9E5DC"/>
                </a:solidFill>
                <a:latin typeface="Microsoft YaHei"/>
                <a:ea typeface="Microsoft YaHei"/>
              </a:rPr>
              <a:t>BIRD'S NEST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057650" y="46101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E9E5DC">
                    <a:alpha val="52000"/>
                  </a:srgbClr>
                </a:solidFill>
                <a:latin typeface="Microsoft YaHei"/>
                <a:ea typeface="Microsoft YaHei"/>
              </a:rPr>
              <a:t>the dream he said out loud in 2005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5353050"/>
            <a:ext cx="6581775" cy="704850"/>
          </a:xfrm>
          <a:custGeom>
            <a:pathLst>
              <a:path w="691" h="74">
                <a:moveTo>
                  <a:pt x="0" y="0"/>
                </a:moveTo>
                <a:lnTo>
                  <a:pt x="3" y="0"/>
                </a:lnTo>
                <a:lnTo>
                  <a:pt x="3" y="74"/>
                </a:lnTo>
                <a:lnTo>
                  <a:pt x="0" y="74"/>
                </a:lnTo>
                <a:close/>
              </a:path>
            </a:pathLst>
          </a:custGeom>
          <a:solidFill>
            <a:srgbClr val="D8482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28675" y="5353050"/>
            <a:ext cx="6334125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E9E5DC"/>
                </a:solidFill>
                <a:latin typeface="Georgia"/>
                <a:ea typeface="Georgia"/>
              </a:rPr>
              <a:t>The comeback could have been cashed in.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E9E5DC">
                    <a:alpha val="60000"/>
                  </a:srgbClr>
                </a:solidFill>
                <a:latin typeface="Georgia"/>
                <a:ea typeface="Georgia"/>
              </a:rPr>
              <a:t>Instead it was converted into 140 nights of singing.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486650" y="1104900"/>
            <a:ext cx="4095750" cy="3886200"/>
          </a:xfrm>
          <a:prstGeom prst="roundRect">
            <a:avLst>
              <a:gd name="adj" fmla="val 735"/>
            </a:avLst>
          </a:prstGeom>
          <a:ln/>
        </p:spPr>
        <p:txBody>
          <a:bodyPr/>
          <a:p/>
        </p:txBody>
      </p:sp>
      <p:pic>
        <p:nvPicPr>
          <p:cNvPr id="149" name=""/>
          <p:cNvPicPr>
            <a:picLocks noChangeAspect="1"/>
          </p:cNvPicPr>
          <p:nvPr/>
        </p:nvPicPr>
        <p:blipFill>
          <a:blip r:embed="rId1"/>
          <a:srcRect l="16172" t="0" r="16172" b="0"/>
          <a:stretch>
            <a:fillRect/>
          </a:stretch>
        </p:blipFill>
        <p:spPr>
          <a:xfrm rot="0" flipH="0" flipV="0">
            <a:off x="7486650" y="1104900"/>
            <a:ext cx="4095750" cy="388620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86650" y="5124450"/>
            <a:ext cx="40957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FIG. 03 — phone lights, 2023. People still pay to hear a man be sad in public.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058525" y="6438900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05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6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7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5 — THE METHOD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Three rules of a Xue ballad&#13;&#10;        &lt;/Text&gt;&#13;&#10;    &lt;/Box&gt;&#13;&#10;&#13;&#10;    {/* B · 内容区 */}&#13;&#10;    &lt;Box style={{ flexDirection: 'row', height: 520, gap: 40 }}&gt;&#13;&#10;&#13;&#10;        {/* 左：色块 */}&#13;&#10;        &lt;Box style={{ width: 372, height: 520, background: '#171E29', padding: 30, flexDirection: 'column', justifyContent: 'space-between' }}&gt;&#13;&#10;            &lt;Box style={{ flexDirection: 'column' }}&gt;&#13;&#10;                &lt;Text style={{ fontFamily: 'Microsoft YaHei', fontSize: 11, fontWeight: 'bold', color: 'rgba(233,229,220,0.4)', letterSpacing: 3 }}&gt;&#13;&#10;                    WHY IT WORKS&#13;&#10;                &lt;/Text&gt;&#13;&#10;                &lt;Text style={{ fontFamily: 'Georgia', fontSize: 31, fontWeight: 'bold', color: '#E9E5DC', lineHeight: 1.3, marginTop: 26 }}&gt;&#13;&#10;                    Easy to&lt;br /&gt;understand.&lt;br /&gt;&#13;&#10;                    &lt;span style={{ color: '#D8482F' }}&gt;Hard to&lt;br /&gt;forget.&lt;/span&gt;&#13;&#10;                &lt;/Text&gt;&#13;&#10;            &lt;/Box&gt;&#13;&#10;&#13;&#10;            &lt;Box style={{ flexDirection: 'column' }}&gt;&#13;&#10;                &lt;Text style={{ fontFamily: 'Microsoft YaHei', fontSize: 24, fontWeight: 'bold', color: 'rgba(233,229,220,0.9)' }}&gt;&#13;&#10;                    好懂，但不浅。&#13;&#10;                &lt;/Text&gt;&#13;&#10;                &lt;Text style={{ fontFamily: 'Georgia', fontSize: 13, color: 'rgba(233,229,220,0.38)', letterSpacing: 1, marginTop: 8 }}&gt;&#13;&#10;                    clear, never shallow&#13;&#10;                &lt;/Text&gt;&#13;&#10;            &lt;/Box&gt;&#13;&#10;&#13;&#10;            &lt;Box style={{ flexDirection: 'column' }}&gt;&#13;&#10;                &lt;Box style={{ width: 40, height: 2, background: '#D8482F', marginBottom: 16 }} /&gt;&#13;&#10;                &lt;Text style={{ fontFamily: 'Microsoft YaHei', fontSize: 14, color: 'rgba(233,229,220,0.55)', lineHeight: 1.7 }}&gt;&#13;&#10;                    Read his lyrics as writing, not as decoration — they hold up better than most poetry on the shelf.&#13;&#10;                &lt;/Text&gt;&#13;&#10;            &lt;/Box&gt;&#13;&#10;        &lt;/Box&gt;&#13;&#10;&#13;&#10;        {/* 右：三条规则 */}&#13;&#10;        &lt;Box style={{ width: 740, height: 520, flexDirection: 'column', justifyContent: 'space-between' }}&gt;&#13;&#10;&#13;&#10;            &lt;Animation animType=&quot;fadeIn&quot; duration={650} startType=&quot;afterPrevious&quot;&gt;&#13;&#10;                &lt;Box style={{ flexDirection: 'row', gap: 26, paddingBottom: 26, borderBottom: '1px solid rgba(233,229,220,0.13)' }}&gt;&#13;&#10;                    &lt;Text style={{ fontFamily: 'Georgia', fontSize: 42, fontWeight: 'bold', color: 'rgba(216,72,47,0.85)', lineHeight: 1.0, width: 74 }}&gt;01&lt;/Text&gt;&#13;&#10;                    &lt;Box style={{ width: 640, flexDirection: 'column' }}&gt;&#13;&#10;                        &lt;Text style={{ fontFamily: 'Georgia', fontSize: 23, fontWeight: 'bold', color: '#E9E5DC', lineHeight: 1.35 }}&gt;&#13;&#10;                            He writes the words himself.&#13;&#10;                        &lt;/Text&gt;&#13;&#10;                        &lt;Text style={{ fontFamily: 'Microsoft YaHei', fontSize: 16, color: 'rgba(233,229,220,0.72)', lineHeight: 1.7, marginTop: 10 }}&gt;&#13;&#10;                            Almost every lyric you know by him carries his own name in the credits. In Mandopop that is rare — and it is why the details feel borrowed from a life instead of a brief.&#13;&#10;                        &lt;/Text&gt;&#13;&#10;                    &lt;/Box&gt;&#13;&#10;                &lt;/Box&gt;&#13;&#10;            &lt;/Animation&gt;&#13;&#10;&#13;&#10;            &lt;Animation animType=&quot;fadeIn&quot; duration={650} startType=&quot;afterPrevious&quot;&gt;&#13;&#10;                &lt;Box style={{ flexDirection: 'row', gap: 26, paddingTop: 26, paddingBottom: 26, borderBottom: '1px solid rgba(233,229,220,0.13)' }}&gt;&#13;&#10;                    &lt;Text style={{ fontFamily: 'Georgia', fontSize: 42, fontWeight: 'bold', color: 'rgba(216,72,47,0.85)', lineHeight: 1.0, width: 74 }}&gt;02&lt;/Text&gt;&#13;&#10;                    &lt;Box style={{ width: 640, flexDirection: 'column' }}&gt;&#13;&#10;                        &lt;Text style={{ fontFamily: 'Georgia', fontSize: 23, fontWeight: 'bold', color: '#E9E5DC', lineHeight: 1.35 }}&gt;&#13;&#10;                            He uses the words you already own.&#13;&#10;                        &lt;/Text&gt;&#13;&#10;                        &lt;Text style={{ fontFamily: 'Microsoft YaHei', fontSize: 16, color: 'rgba(233,229,220,0.72)', lineHeight: 1.7, marginTop: 10 }}&gt;&#13;&#10;                            No mythology, no invented metaphors. A coat. A phone. A bowl of noodles. Ordinary nouns, put in an order that hurts.&#13;&#10;                        &lt;/Text&gt;&#13;&#10;                    &lt;/Box&gt;&#13;&#10;                &lt;/Box&gt;&#13;&#10;            &lt;/Animation&gt;&#13;&#10;&#13;&#10;            &lt;Animation animType=&quot;fadeIn&quot; duration={650} startType=&quot;afterPrevious&quot;&gt;&#13;&#10;                &lt;Box style={{ flexDirection: 'row', gap: 26, paddingTop: 26 }}&gt;&#13;&#10;                    &lt;Text style={{ fontFamily: 'Georgia', fontSize: 42, fontWeight: 'bold', color: 'rgba(216,72,47,0.85)', lineHeight: 1.0, width: 74 }}&gt;03&lt;/Text&gt;&#13;&#10;                    &lt;Box style={{ width: 640, flexDirection: 'column' }}&gt;&#13;&#10;                        &lt;Text style={{ fontFamily: 'Georgia', fontSize: 23, fontWeight: 'bold', color: '#E9E5DC', lineHeight: 1.35 }}&gt;&#13;&#10;                            He turns the knife in the last line.&#13;&#10;                        &lt;/Text&gt;&#13;&#10;                        &lt;Text style={{ fontFamily: 'Microsoft YaHei', fontSize: 16, color: 'rgba(233,229,220,0.72)', lineHeight: 1.7, marginTop: 10 }}&gt;&#13;&#10;                            Three minutes of good manners, then one sentence that gives the whole song away — and makes you press play again.&#13;&#10;                        &lt;/Text&gt;&#13;&#10;                    &lt;/Box&gt;&#13;&#10;                &lt;/Box&gt;&#13;&#10;            &lt;/Animation&gt;&#13;&#10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6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05 — THE METHOD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2286000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Three rules of a Xue ballad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1104900"/>
            <a:ext cx="3543300" cy="4953000"/>
          </a:xfrm>
          <a:prstGeom prst="rect">
            <a:avLst/>
          </a:prstGeom>
          <a:solidFill>
            <a:srgbClr val="171E2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95350" y="1390650"/>
            <a:ext cx="2971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E9E5DC">
                    <a:alpha val="40000"/>
                  </a:srgbClr>
                </a:solidFill>
                <a:latin typeface="Microsoft YaHei"/>
                <a:ea typeface="Microsoft YaHei"/>
              </a:rPr>
              <a:t>WHY IT WORKS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95350" y="1771650"/>
            <a:ext cx="2971800" cy="18478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325" b="1">
                <a:solidFill>
                  <a:srgbClr val="E9E5DC"/>
                </a:solidFill>
                <a:latin typeface="Georgia"/>
                <a:ea typeface="Georgia"/>
              </a:rPr>
              <a:t>Easy to</a:t>
            </a:r>
            <a:endParaRPr/>
          </a:p>
          <a:p>
            <a:pPr>
              <a:lnSpc>
                <a:spcPct val="130000"/>
              </a:lnSpc>
            </a:pPr>
            <a:r>
              <a:rPr lang="en-US" sz="2325" b="1">
                <a:solidFill>
                  <a:srgbClr val="E9E5DC"/>
                </a:solidFill>
                <a:latin typeface="Georgia"/>
                <a:ea typeface="Georgia"/>
              </a:rPr>
              <a:t>understand.</a:t>
            </a:r>
            <a:endParaRPr/>
          </a:p>
          <a:p>
            <a:pPr>
              <a:lnSpc>
                <a:spcPct val="130000"/>
              </a:lnSpc>
            </a:pPr>
            <a:r>
              <a:rPr lang="en-US" sz="2325" b="1">
                <a:solidFill>
                  <a:srgbClr val="D8482F"/>
                </a:solidFill>
                <a:latin typeface="Georgia"/>
                <a:ea typeface="Georgia"/>
              </a:rPr>
              <a:t>Hard to</a:t>
            </a:r>
            <a:r>
              <a:rPr sz="2325" b="1">
                <a:solidFill>
                  <a:srgbClr val="D8482F"/>
                </a:solidFill>
                <a:latin typeface="Georgia"/>
                <a:ea typeface="Georgia"/>
              </a:rPr>
              <a:t xml:space="preserve">
</a:t>
            </a:r>
            <a:r>
              <a:rPr lang="en-US" sz="2325" b="1">
                <a:solidFill>
                  <a:srgbClr val="D8482F"/>
                </a:solidFill>
                <a:latin typeface="Georgia"/>
                <a:ea typeface="Georgia"/>
              </a:rPr>
              <a:t>forget.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95350" y="395287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9E5DC">
                    <a:alpha val="90000"/>
                  </a:srgbClr>
                </a:solidFill>
                <a:latin typeface="Microsoft YaHei"/>
                <a:ea typeface="Microsoft YaHei"/>
              </a:rPr>
              <a:t>好懂，但不浅。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95350" y="430530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8000"/>
                  </a:srgbClr>
                </a:solidFill>
                <a:latin typeface="Georgia"/>
                <a:ea typeface="Georgia"/>
              </a:rPr>
              <a:t>clear, never shallow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95350" y="4781550"/>
            <a:ext cx="381000" cy="19050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95350" y="4953000"/>
            <a:ext cx="29718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>Read his lyrics as writing, not as decoration — they hold up better than most poetry on the shelf.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533900" y="1104900"/>
            <a:ext cx="7048500" cy="1657350"/>
          </a:xfrm>
          <a:custGeom>
            <a:pathLst>
              <a:path w="740" h="174">
                <a:moveTo>
                  <a:pt x="0" y="173"/>
                </a:moveTo>
                <a:lnTo>
                  <a:pt x="740" y="173"/>
                </a:lnTo>
                <a:lnTo>
                  <a:pt x="740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E9E5DC">
              <a:alpha val="13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533900" y="1104900"/>
            <a:ext cx="704850" cy="1390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D8482F">
                    <a:alpha val="85000"/>
                  </a:srgbClr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486400" y="1104900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He writes the words himself.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486400" y="1562100"/>
            <a:ext cx="609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Almost every lyric you know by him carries his own name in the credits. In Mandopop that is rare — and it is why the details feel borrowed from a life instead of a brief.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4533900" y="2943225"/>
            <a:ext cx="7048500" cy="1600200"/>
          </a:xfrm>
          <a:custGeom>
            <a:pathLst>
              <a:path w="740" h="168">
                <a:moveTo>
                  <a:pt x="0" y="167"/>
                </a:moveTo>
                <a:lnTo>
                  <a:pt x="740" y="167"/>
                </a:lnTo>
                <a:lnTo>
                  <a:pt x="740" y="168"/>
                </a:lnTo>
                <a:lnTo>
                  <a:pt x="0" y="168"/>
                </a:lnTo>
                <a:close/>
              </a:path>
            </a:pathLst>
          </a:custGeom>
          <a:solidFill>
            <a:srgbClr val="E9E5DC">
              <a:alpha val="13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33900" y="3190875"/>
            <a:ext cx="704850" cy="1085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D8482F">
                    <a:alpha val="85000"/>
                  </a:srgbClr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486400" y="3190875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He uses the words you already own.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486400" y="364807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No mythology, no invented metaphors. A coat. A phone. A bowl of noodles. Ordinary nouns, put in an order that hurts.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533900" y="4972050"/>
            <a:ext cx="704850" cy="1085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D8482F">
                    <a:alpha val="85000"/>
                  </a:srgbClr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486400" y="4972050"/>
            <a:ext cx="60960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725" b="1">
                <a:solidFill>
                  <a:srgbClr val="E9E5DC"/>
                </a:solidFill>
                <a:latin typeface="Georgia"/>
                <a:ea typeface="Georgia"/>
              </a:rPr>
              <a:t>He turns the knife in the last line.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486400" y="5429250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Three minutes of good manners, then one sentence that gives the whole song away — and makes you press play again.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06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20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20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6 — THE WORD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The word that gives it away&#13;&#10;        &lt;/Text&gt;&#13;&#10;    &lt;/Box&gt;&#13;&#10;&#13;&#10;    {/* B · 内容区 */}&#13;&#10;    &lt;Box style={{ width: 1152, height: 520, position: 'relative' }}&gt;&#13;&#10;&#13;&#10;        {/* 红色光晕 */}&#13;&#10;        &lt;Box style={{ position: 'absolute', top: 40, left: 376, width: 400, height: 400, borderRadius: 200, background: 'radial-gradient(circle, rgba(216,72,47,0.22) 0%, rgba(11,14,20,0) 68%)' }} /&gt;&#13;&#10;&#13;&#10;        {/* 左侧注释 */}&#13;&#10;        &lt;Box style={{ position: 'absolute', top: 150, left: 0, width: 160, flexDirection: 'column' }}&gt;&#13;&#10;            &lt;Box style={{ width: 1, height: 44, background: '#D8482F', marginBottom: 18 }} /&gt;&#13;&#10;            &lt;Text style={{ fontFamily: 'Microsoft YaHei', fontSize: 10, fontWeight: 'bold', color: 'rgba(233,229,220,0.4)', letterSpacing: 3 }}&gt;ALBUM&lt;/Text&gt;&#13;&#10;            &lt;Text style={{ fontFamily: 'Microsoft YaHei', fontSize: 17, color: 'rgba(233,229,220,0.85)', marginTop: 8 }}&gt;《意外》&lt;/Text&gt;&#13;&#10;            &lt;Text style={{ fontFamily: 'Georgia', fontSize: 13, color: 'rgba(233,229,220,0.4)', marginTop: 4 }}&gt;2013 · 4:02&lt;/Text&gt;&#13;&#10;        &lt;/Box&gt;&#13;&#10;&#13;&#10;        {/* 右侧注释 */}&#13;&#10;        &lt;Box style={{ position: 'absolute', top: 150, right: 0, width: 160, flexDirection: 'column', alignItems: 'flex-end' }}&gt;&#13;&#10;            &lt;Box style={{ width: 1, height: 44, background: 'rgba(233,229,220,0.25)', marginBottom: 18 }} /&gt;&#13;&#10;            &lt;Text style={{ fontFamily: 'Microsoft YaHei', fontSize: 10, fontWeight: 'bold', color: 'rgba(233,229,220,0.4)', letterSpacing: 3 }}&gt;WORDS &amp;amp; MUSIC&lt;/Text&gt;&#13;&#10;            &lt;Text style={{ fontFamily: 'Microsoft YaHei', fontSize: 17, color: 'rgba(233,229,220,0.85)', marginTop: 8, textAlign: 'right' }}&gt;薛之谦&lt;/Text&gt;&#13;&#10;            &lt;Text style={{ fontFamily: 'Georgia', fontSize: 13, color: 'rgba(233,229,220,0.4)', marginTop: 4, textAlign: 'right' }}&gt;4:02&lt;/Text&gt;&#13;&#10;        &lt;/Box&gt;&#13;&#10;&#13;&#10;        &lt;Box style={{ width: 1152, height: 520, flexDirection: 'column', alignItems: 'center', justifyContent: 'center' }}&gt;&#13;&#10;&#13;&#10;            &lt;Animation animType=&quot;fadeIn&quot; duration={700} startType=&quot;afterPrevious&quot;&gt;&#13;&#10;                &lt;Box style={{ flexDirection: 'column', alignItems: 'center' }}&gt;&#13;&#10;                    &lt;Text style={{ fontFamily: 'Microsoft YaHei', fontSize: 15, color: 'rgba(233,229,220,0.42)', lineHeight: 1.9, textAlign: 'center' }}&gt;&#13;&#10;                        分开时难过不能说 · &lt;span style={{ fontFamily: 'Georgia' }}&gt;I can't say that I'm sad.&lt;/span&gt;&lt;br /&gt;&#13;&#10;                        谁没谁不能好好过 · &lt;span style={{ fontFamily: 'Georgia' }}&gt;Nobody dies without somebody.&lt;/span&gt;&lt;br /&gt;&#13;&#10;                        分开后我会笑着说 · &lt;span style={{ fontFamily: 'Georgia' }}&gt;Afterwards I'll smile and say —&lt;/span&gt;&#13;&#10;                    &lt;/Text&gt;&#13;&#10;                &lt;/Box&gt;&#13;&#10;            &lt;/Animation&gt;&#13;&#10;&#13;&#10;            &lt;Animation animType=&quot;zoom&quot; duration={900} startType=&quot;afterPrevious&quot;&gt;&#13;&#10;                &lt;Box style={{ flexDirection: 'column', alignItems: 'center', marginTop: 14 }}&gt;&#13;&#10;                    &lt;Text style={{ fontFamily: 'Microsoft YaHei', fontSize: 128, fontWeight: 'bold', color: '#E9E5DC', lineHeight: 1.0, letterSpacing: 6 }}&gt;&#13;&#10;                        其实&#13;&#10;                    &lt;/Text&gt;&#13;&#10;                    &lt;Text style={{ fontFamily: 'Georgia', fontSize: 15, fontWeight: 'bold', color: '#D8482F', letterSpacing: 9, marginTop: 14 }}&gt;&#13;&#10;                        ACTUALLY&#13;&#10;                    &lt;/Text&gt;&#13;&#10;                &lt;/Box&gt;&#13;&#10;            &lt;/Animation&gt;&#13;&#10;&#13;&#10;            &lt;Animation animType=&quot;fadeIn&quot; duration={700} startType=&quot;afterPrevious&quot;&gt;&#13;&#10;                &lt;Box style={{ flexDirection: 'column', alignItems: 'center', marginTop: 30 }}&gt;&#13;&#10;                    &lt;Box style={{ width: 60, height: 1, background: 'rgba(233,229,220,0.2)', marginBottom: 22 }} /&gt;&#13;&#10;                    &lt;Text style={{ fontFamily: 'Microsoft YaHei', fontSize: 22, color: '#E9E5DC', lineHeight: 1.6, textAlign: 'center' }}&gt;&#13;&#10;                        其实我根本没人说 · 其实我没你不能活&#13;&#10;                    &lt;/Text&gt;&#13;&#10;                    &lt;Text style={{ fontFamily: 'Georgia', fontSize: 14, color: 'rgba(233,229,220,0.55)', lineHeight: 1.7, textAlign: 'center', marginTop: 8 }}&gt;&#13;&#10;                        &quot;Actually, there is nobody I can tell. Actually, I can't live without you.&quot;&#13;&#10;                    &lt;/Text&gt;&#13;&#10;                &lt;/Box&gt;&#13;&#10;            &lt;/Animation&gt;&#13;&#10;&#13;&#10;            &lt;Text style={{ fontFamily: 'Microsoft YaHei', fontSize: 14, color: 'rgba(233,229,220,0.38)', lineHeight: 1.6, textAlign: 'center', marginTop: 26, width: 760 }}&gt;&#13;&#10;                Four lines of good manners. One word that ends them. The whole song is a corridor built for this syllable.&#13;&#10;            &lt;/Text&gt;&#13;&#10;&#13;&#10;        &lt;/Box&gt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7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36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06 — THE WORD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2085975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The word that gives it away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058525" y="6438900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07 / 10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352925" y="1257300"/>
            <a:ext cx="3495675" cy="981075"/>
          </a:xfrm>
          <a:prstGeom prst="rect"/>
        </p:spPr>
        <p:txBody>
          <a:bodyPr wrap="none" lIns="0" tIns="0" rIns="0" bIns="0"/>
          <a:p>
            <a:pPr algn="ctr">
              <a:lnSpc>
                <a:spcPct val="190000"/>
              </a:lnSpc>
            </a:pPr>
            <a:r>
              <a:rPr lang="zh-CN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分开时难过不能说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I can't say that I'm sad.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谁没谁不能好好过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Nobody dies without somebody.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分开后我会笑着说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125">
                <a:solidFill>
                  <a:srgbClr val="E9E5DC">
                    <a:alpha val="42000"/>
                  </a:srgbClr>
                </a:solidFill>
                <a:latin typeface="Microsoft YaHei"/>
                <a:ea typeface="Microsoft YaHei"/>
              </a:rPr>
              <a:t>Afterwards I'll smile and say —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819650" y="2371725"/>
            <a:ext cx="25527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600" b="1" spc="450">
                <a:solidFill>
                  <a:srgbClr val="E9E5DC"/>
                </a:solidFill>
                <a:latin typeface="Microsoft YaHei"/>
                <a:ea typeface="Microsoft YaHei"/>
              </a:rPr>
              <a:t>其实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34000" y="397192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675">
                <a:solidFill>
                  <a:srgbClr val="D8482F"/>
                </a:solidFill>
                <a:latin typeface="Georgia"/>
                <a:ea typeface="Georgia"/>
              </a:rPr>
              <a:t>ACTUALLY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819775" y="4429125"/>
            <a:ext cx="571500" cy="9525"/>
          </a:xfrm>
          <a:prstGeom prst="rect">
            <a:avLst/>
          </a:prstGeom>
          <a:solidFill>
            <a:srgbClr val="E9E5DC">
              <a:alpha val="20000"/>
            </a:srgbClr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333875" y="4648200"/>
            <a:ext cx="3533775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E9E5DC"/>
                </a:solidFill>
                <a:latin typeface="Microsoft YaHei"/>
                <a:ea typeface="Microsoft YaHei"/>
              </a:rPr>
              <a:t>其实我根本没人说</a:t>
            </a:r>
            <a:r>
              <a:rPr lang="en-US" sz="1650">
                <a:solidFill>
                  <a:srgbClr val="E9E5D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E9E5DC"/>
                </a:solidFill>
                <a:latin typeface="Microsoft YaHei"/>
                <a:ea typeface="Microsoft YaHei"/>
              </a:rPr>
              <a:t>其实我没你不能活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048125" y="5133975"/>
            <a:ext cx="41052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en-US" sz="1050">
                <a:solidFill>
                  <a:srgbClr val="E9E5DC">
                    <a:alpha val="55000"/>
                  </a:srgbClr>
                </a:solidFill>
                <a:latin typeface="Georgia"/>
                <a:ea typeface="Georgia"/>
              </a:rPr>
              <a:t>"Actually, there is nobody I can tell. Actually, I can't live without you."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476500" y="5657850"/>
            <a:ext cx="7239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050">
                <a:solidFill>
                  <a:srgbClr val="E9E5DC">
                    <a:alpha val="38000"/>
                  </a:srgbClr>
                </a:solidFill>
                <a:latin typeface="Microsoft YaHei"/>
                <a:ea typeface="Microsoft YaHei"/>
              </a:rPr>
              <a:t>Four lines of good manners. One word that ends them. The whole song is a corridor built for this syllable.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191000" y="1485900"/>
            <a:ext cx="3810000" cy="381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8482F">
                  <a:alpha val="22000"/>
                </a:srgbClr>
              </a:gs>
              <a:gs pos="68000">
                <a:srgbClr val="0B0E1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09600" y="2533650"/>
            <a:ext cx="9525" cy="419100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524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225">
                <a:solidFill>
                  <a:srgbClr val="E9E5DC">
                    <a:alpha val="40000"/>
                  </a:srgbClr>
                </a:solidFill>
                <a:latin typeface="Microsoft YaHei"/>
                <a:ea typeface="Microsoft YaHei"/>
              </a:rPr>
              <a:t>ALBUM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33147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E5DC">
                    <a:alpha val="85000"/>
                  </a:srgbClr>
                </a:solidFill>
                <a:latin typeface="Microsoft YaHei"/>
                <a:ea typeface="Microsoft YaHei"/>
              </a:rPr>
              <a:t>《意外》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E5DC">
                    <a:alpha val="40000"/>
                  </a:srgbClr>
                </a:solidFill>
                <a:latin typeface="Georgia"/>
                <a:ea typeface="Georgia"/>
              </a:rPr>
              <a:t>2013 · 4:02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11572875" y="2533650"/>
            <a:ext cx="9525" cy="419100"/>
          </a:xfrm>
          <a:prstGeom prst="rect">
            <a:avLst/>
          </a:prstGeom>
          <a:solidFill>
            <a:srgbClr val="E9E5DC">
              <a:alpha val="25000"/>
            </a:srgbClr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353675" y="3124200"/>
            <a:ext cx="1228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225">
                <a:solidFill>
                  <a:srgbClr val="E9E5DC">
                    <a:alpha val="40000"/>
                  </a:srgbClr>
                </a:solidFill>
                <a:latin typeface="Microsoft YaHei"/>
                <a:ea typeface="Microsoft YaHei"/>
              </a:rPr>
              <a:t>WORDS &amp; MUSIC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096625" y="3314700"/>
            <a:ext cx="485775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75">
                <a:solidFill>
                  <a:srgbClr val="E9E5DC">
                    <a:alpha val="85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325225" y="3552825"/>
            <a:ext cx="257175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E9E5DC">
                    <a:alpha val="40000"/>
                  </a:srgbClr>
                </a:solidFill>
                <a:latin typeface="Georgia"/>
                <a:ea typeface="Georgia"/>
              </a:rPr>
              <a:t>4:02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9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9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7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7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9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9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id="22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01" name="" descr="&lt;Slide style={{ width: 1280, height: 720, padding: '20px 64px', background: '#0B0E14', flexDirection: 'column' }}&gt;&#13;&#10;&#13;&#10;    {/* A · 标题块 */}&#13;&#10;    &lt;Box style={{ flexDirection: 'column', height: 96, justifyContent: 'center' }}&gt;&#13;&#10;        &lt;Box style={{ flexDirection: 'row', alignItems: 'center', gap: 12, marginBottom: 10 }}&gt;&#13;&#10;            &lt;Text style={{ fontFamily: 'Microsoft YaHei', fontSize: 12, fontWeight: 'bold', color: '#D8482F', letterSpacing: 3 }}&gt;&#13;&#10;                07 — THE LAST LINE&#13;&#10;            &lt;/Text&gt;&#13;&#10;            &lt;Box style={{ width: 46, height: 1, background: 'rgba(233,229,220,0.22)' }} /&gt;&#13;&#10;        &lt;/Box&gt;&#13;&#10;        &lt;Text style={{ fontFamily: 'Georgia', fontSize: 34, fontWeight: 'bold', color: '#E9E5DC' }}&gt;&#13;&#10;            The last line adds three characters&#13;&#10;        &lt;/Text&gt;&#13;&#10;    &lt;/Box&gt;&#13;&#10;&#13;&#10;    {/* B · 内容区 */}&#13;&#10;    &lt;Box style={{ flexDirection: 'row', gap: 32, height: 520 }}&gt;&#13;&#10;&#13;&#10;        {/* 左：歌词对照 */}&#13;&#10;        &lt;Box style={{ width: 700, height: 520, flexDirection: 'column', justifyContent: 'space-between' }}&gt;&#13;&#10;&#13;&#10;            &lt;Animation animType=&quot;fadeIn&quot; duration={600} startType=&quot;afterPrevious&quot;&gt;&#13;&#10;                &lt;Box style={{ flexDirection: 'row', justifyContent: 'space-between' }}&gt;&#13;&#10;                    &lt;Box style={{ width: 430, flexDirection: 'column' }}&gt;&#13;&#10;                        &lt;Text style={{ fontFamily: 'Microsoft YaHei', fontSize: 11, fontWeight: 'bold', color: 'rgba(233,229,220,0.38)', letterSpacing: 3 }}&gt;&#13;&#10;                            VERSE 3 — HE IS STILL BEING POLITE&#13;&#10;                        &lt;/Text&gt;&#13;&#10;                        &lt;Text style={{ fontFamily: 'Microsoft YaHei', fontSize: 28, color: 'rgba(233,229,220,0.62)', lineHeight: 1.5, marginTop: 12 }}&gt;&#13;&#10;                            其实我给你的爱，比你想的多&#13;&#10;                        &lt;/Text&gt;&#13;&#10;                        &lt;Text style={{ fontFamily: 'Georgia', fontSize: 15, color: 'rgba(233,229,220,0.4)', lineHeight: 1.6, marginTop: 6 }}&gt;&#13;&#10;                            &quot;Actually, the love I gave you was more than you thought.&quot;&#13;&#10;                        &lt;/Text&gt;&#13;&#10;                    &lt;/Box&gt;&#13;&#10;                    &lt;Box style={{ width: 232, flexDirection: 'column', alignItems: 'flex-end', paddingTop: 26 }}&gt;&#13;&#10;                        &lt;Text style={{ fontFamily: 'Microsoft YaHei', fontSize: 11, fontWeight: 'bold', color: 'rgba(233,229,220,0.3)', letterSpacing: 2 }}&gt;&#13;&#10;                            HE SINGS IT TWICE&#13;&#10;                        &lt;/Text&gt;&#13;&#10;                        &lt;Text style={{ fontFamily: 'Georgia', fontSize: 16, color: 'rgba(233,229,220,0.5)', lineHeight: 1.6, marginTop: 10, textAlign: 'right' }}&gt;&#13;&#10;                            The words look the same. They are not the same words.&#13;&#10;                        &lt;/Text&gt;&#13;&#10;                    &lt;/Box&gt;&#13;&#10;                &lt;/Box&gt;&#13;&#10;            &lt;/Animation&gt;&#13;&#10;&#13;&#10;            {/* 两处改动 */}&#13;&#10;            &lt;Animation animType=&quot;fadeIn&quot; duration={650} startType=&quot;afterPrevious&quot;&gt;&#13;&#10;                &lt;Box style={{ flexDirection: 'column', gap: 12, paddingTop: 20, paddingBottom: 20, borderTop: '1px solid rgba(233,229,220,0.12)', borderBottom: '1px solid rgba(233,229,220,0.12)' }}&gt;&#13;&#10;                    &lt;Box style={{ flexDirection: 'row', alignItems: 'center', gap: 16 }}&gt;&#13;&#10;                        &lt;Text style={{ fontFamily: 'Microsoft YaHei', fontSize: 17, color: '#D8482F', width: 190 }}&gt;给你的爱 → 爱你&lt;/Text&gt;&#13;&#10;                        &lt;Text style={{ fontFamily: 'Microsoft YaHei', fontSize: 15, color: 'rgba(233,229,220,0.6)', lineHeight: 1.6, width: 470 }}&gt;&#13;&#10;                            a thing he gave her becomes something he still carries&#13;&#10;                        &lt;/Text&gt;&#13;&#10;                    &lt;/Box&gt;&#13;&#10;                    &lt;Box style={{ flexDirection: 'row', alignItems: 'center', gap: 16 }}&gt;&#13;&#10;                        &lt;Text style={{ fontFamily: 'Microsoft YaHei', fontSize: 17, color: '#D8482F', width: 190 }}&gt;多 → 多得多&lt;/Text&gt;&#13;&#10;                        &lt;Text style={{ fontFamily: 'Microsoft YaHei', fontSize: 15, color: 'rgba(233,229,220,0.6)', lineHeight: 1.6, width: 470 }}&gt;&#13;&#10;                            &quot;more&quot; becomes &quot;much, much more&quot; — the only place he stops being careful&#13;&#10;                        &lt;/Text&gt;&#13;&#10;                    &lt;/Box&gt;&#13;&#10;                &lt;/Box&gt;&#13;&#10;            &lt;/Animation&gt;&#13;&#10;&#13;&#10;            &lt;Animation animType=&quot;fadeIn&quot; duration={650} startType=&quot;afterPrevious&quot;&gt;&#13;&#10;                &lt;Box style={{ flexDirection: 'column' }}&gt;&#13;&#10;                    &lt;Text style={{ fontFamily: 'Microsoft YaHei', fontSize: 11, fontWeight: 'bold', color: '#D8482F', letterSpacing: 3 }}&gt;&#13;&#10;                        VERSE 5 — THE SONG IS OVER IN FOUR SECONDS&#13;&#10;                    &lt;/Text&gt;&#13;&#10;                    &lt;Text style={{ fontFamily: 'Microsoft YaHei', fontSize: 30, fontWeight: 'bold', color: '#E9E5DC', lineHeight: 1.45, marginTop: 12 }}&gt;&#13;&#10;                        其实我爱你，比你想的&lt;span style={{ color: '#D8482F' }}&gt;多得多&lt;/span&gt;&#13;&#10;                    &lt;/Text&gt;&#13;&#10;                    &lt;Text style={{ fontFamily: 'Georgia', fontSize: 15, color: 'rgba(233,229,220,0.55)', lineHeight: 1.6, marginTop: 6 }}&gt;&#13;&#10;                        &quot;Actually, I love you much, much more than you thought.&quot;&#13;&#10;                    &lt;/Text&gt;&#13;&#10;                &lt;/Box&gt;&#13;&#10;            &lt;/Animation&gt;&#13;&#10;&#13;&#10;&#13;&#10;            &lt;Box style={{ paddingLeft: 18, borderLeft: '3px solid #D8482F' }}&gt;&#13;&#10;                &lt;Text style={{ fontFamily: 'Georgia', fontSize: 21, color: '#E9E5DC', lineHeight: 1.45 }}&gt;&#13;&#10;                    One verb and three characters. That is the whole confession.&#13;&#10;                &lt;/Text&gt;&#13;&#10;            &lt;/Box&gt;&#13;&#10;&#13;&#10;        &lt;/Box&gt;&#13;&#10;&#13;&#10;        {/* 右：图 */}&#13;&#10;        &lt;Box style={{ width: 420, height: 520, flexDirection: 'column' }}&gt;&#13;&#10;            &lt;Box style={{ width: 420, height: 420, borderRadius: 3, overflow: 'hidden' }}&gt;&#13;&#10;                &lt;Image src=&quot;assets/rain_window.jpg&quot; style={{ width: 420, height: 420, objectFit: 'cover' }} /&gt;&#13;&#10;            &lt;/Box&gt;&#13;&#10;            &lt;Text style={{ fontFamily: 'Georgia', fontSize: 19, color: '#E9E5DC', lineHeight: 1.5, marginTop: 20 }}&gt;&#13;&#10;                Same song. Same man.&#13;&#10;                &lt;span style={{ color: 'rgba(233,229,220,0.55)' }}&gt; One verb, three characters, and the politeness is gone.&lt;/span&gt;&#13;&#10;            &lt;/Text&gt;&#13;&#10;        &lt;/Box&gt;&#13;&#10;&#13;&#10;    &lt;/Box&gt;&#13;&#10;&#13;&#10;    {/* C · 页脚条 */}&#13;&#10;    &lt;Box style={{ flexDirection: 'row', justifyContent: 'space-between', alignItems: 'flex-end', height: 56 }}&gt;&#13;&#10;        &lt;Text style={{ fontFamily: 'Microsoft YaHei', fontSize: 13, color: 'rgba(233,229,220,0.34)', letterSpacing: 1 }}&gt;&#13;&#10;            JOKER XUE · 薛之谦&#13;&#10;        &lt;/Text&gt;&#13;&#10;        &lt;Text style={{ fontFamily: 'Georgia', fontSize: 13, color: 'rgba(233,229,220,0.34)', letterSpacing: 2 }}&gt;&#13;&#10;            08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704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07 — THE LAST LINE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2428875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The last line adds three characters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4095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E9E5DC">
                    <a:alpha val="38000"/>
                  </a:srgbClr>
                </a:solidFill>
                <a:latin typeface="Microsoft YaHei"/>
                <a:ea typeface="Microsoft YaHei"/>
              </a:rPr>
              <a:t>VERSE 3 — HE IS STILL BEING POLITE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409575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>
                <a:solidFill>
                  <a:srgbClr val="E9E5DC">
                    <a:alpha val="62000"/>
                  </a:srgbClr>
                </a:solidFill>
                <a:latin typeface="Microsoft YaHei"/>
                <a:ea typeface="Microsoft YaHei"/>
              </a:rPr>
              <a:t>其实我给你的爱，比你想的多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4095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40000"/>
                  </a:srgbClr>
                </a:solidFill>
                <a:latin typeface="Georgia"/>
                <a:ea typeface="Georgia"/>
              </a:rPr>
              <a:t>"Actually, the love I gave you was more than you thought."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934075" y="1352550"/>
            <a:ext cx="1343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E9E5DC">
                    <a:alpha val="30000"/>
                  </a:srgbClr>
                </a:solidFill>
                <a:latin typeface="Microsoft YaHei"/>
                <a:ea typeface="Microsoft YaHei"/>
              </a:rPr>
              <a:t>HE SINGS IT TWICE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067300" y="1581150"/>
            <a:ext cx="2209800" cy="590550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60000"/>
              </a:lnSpc>
            </a:pPr>
            <a:r>
              <a:rPr lang="en-US" sz="1200">
                <a:solidFill>
                  <a:srgbClr val="E9E5DC">
                    <a:alpha val="50000"/>
                  </a:srgbClr>
                </a:solidFill>
                <a:latin typeface="Georgia"/>
                <a:ea typeface="Georgia"/>
              </a:rPr>
              <a:t>The words look the same. They are not the same words.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2543175"/>
            <a:ext cx="6667500" cy="1362075"/>
          </a:xfrm>
          <a:custGeom>
            <a:pathLst>
              <a:path w="700" h="143">
                <a:moveTo>
                  <a:pt x="0" y="0"/>
                </a:moveTo>
                <a:lnTo>
                  <a:pt x="700" y="0"/>
                </a:lnTo>
                <a:lnTo>
                  <a:pt x="7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609600" y="2543175"/>
            <a:ext cx="6667500" cy="1362075"/>
          </a:xfrm>
          <a:custGeom>
            <a:pathLst>
              <a:path w="700" h="143">
                <a:moveTo>
                  <a:pt x="0" y="142"/>
                </a:moveTo>
                <a:lnTo>
                  <a:pt x="700" y="142"/>
                </a:lnTo>
                <a:lnTo>
                  <a:pt x="700" y="143"/>
                </a:lnTo>
                <a:lnTo>
                  <a:pt x="0" y="143"/>
                </a:lnTo>
                <a:close/>
              </a:path>
            </a:pathLst>
          </a:custGeom>
          <a:solidFill>
            <a:srgbClr val="E9E5DC">
              <a:alpha val="12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8482F"/>
                </a:solidFill>
                <a:latin typeface="Microsoft YaHei"/>
                <a:ea typeface="Microsoft YaHei"/>
              </a:rPr>
              <a:t>给你的爱</a:t>
            </a:r>
            <a:r>
              <a:rPr lang="en-US" sz="1275">
                <a:solidFill>
                  <a:srgbClr val="D8482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D8482F"/>
                </a:solidFill>
                <a:latin typeface="Microsoft YaHei"/>
                <a:ea typeface="Microsoft YaHei"/>
              </a:rPr>
              <a:t>爱你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571750" y="2743200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60000"/>
                  </a:srgbClr>
                </a:solidFill>
                <a:latin typeface="Microsoft YaHei"/>
                <a:ea typeface="Microsoft YaHei"/>
              </a:rPr>
              <a:t>a thing he gave her becomes something he still carries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331470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8482F"/>
                </a:solidFill>
                <a:latin typeface="Microsoft YaHei"/>
                <a:ea typeface="Microsoft YaHei"/>
              </a:rPr>
              <a:t>多</a:t>
            </a:r>
            <a:r>
              <a:rPr lang="en-US" sz="1275">
                <a:solidFill>
                  <a:srgbClr val="D8482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D8482F"/>
                </a:solidFill>
                <a:latin typeface="Microsoft YaHei"/>
                <a:ea typeface="Microsoft YaHei"/>
              </a:rPr>
              <a:t>多得多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2571750" y="3133725"/>
            <a:ext cx="4476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60000"/>
                  </a:srgbClr>
                </a:solidFill>
                <a:latin typeface="Microsoft YaHei"/>
                <a:ea typeface="Microsoft YaHei"/>
              </a:rPr>
              <a:t>"more" becomes "much, much more" — the only place he stops being careful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09600" y="4248150"/>
            <a:ext cx="6667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D8482F"/>
                </a:solidFill>
                <a:latin typeface="Microsoft YaHei"/>
                <a:ea typeface="Microsoft YaHei"/>
              </a:rPr>
              <a:t>VERSE 5 — THE SONG IS OVER IN FOUR SECONDS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6667500" cy="504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9E5DC"/>
                </a:solidFill>
                <a:latin typeface="Microsoft YaHei"/>
                <a:ea typeface="Microsoft YaHei"/>
              </a:rPr>
              <a:t>其实我爱你，比你想的</a:t>
            </a:r>
            <a:r>
              <a:rPr lang="zh-CN" sz="2250" b="1">
                <a:solidFill>
                  <a:srgbClr val="D8482F"/>
                </a:solidFill>
                <a:latin typeface="Microsoft YaHei"/>
                <a:ea typeface="Microsoft YaHei"/>
              </a:rPr>
              <a:t>多得多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5057775"/>
            <a:ext cx="6667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9E5DC">
                    <a:alpha val="55000"/>
                  </a:srgbClr>
                </a:solidFill>
                <a:latin typeface="Georgia"/>
                <a:ea typeface="Georgia"/>
              </a:rPr>
              <a:t>"Actually, I love you much, much more than you thought."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5705475"/>
            <a:ext cx="6696075" cy="352425"/>
          </a:xfrm>
          <a:custGeom>
            <a:pathLst>
              <a:path w="703" h="37">
                <a:moveTo>
                  <a:pt x="0" y="0"/>
                </a:moveTo>
                <a:lnTo>
                  <a:pt x="3" y="0"/>
                </a:lnTo>
                <a:lnTo>
                  <a:pt x="3" y="37"/>
                </a:lnTo>
                <a:lnTo>
                  <a:pt x="0" y="37"/>
                </a:lnTo>
                <a:close/>
              </a:path>
            </a:pathLst>
          </a:custGeom>
          <a:solidFill>
            <a:srgbClr val="D8482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09625" y="5705475"/>
            <a:ext cx="6467475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E9E5DC"/>
                </a:solidFill>
                <a:latin typeface="Georgia"/>
                <a:ea typeface="Georgia"/>
              </a:rPr>
              <a:t>One verb and three characters. That is the whole confession.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7581900" y="1104900"/>
            <a:ext cx="4000500" cy="4000500"/>
          </a:xfrm>
          <a:prstGeom prst="roundRect">
            <a:avLst>
              <a:gd name="adj" fmla="val 714"/>
            </a:avLst>
          </a:prstGeom>
          <a:ln/>
        </p:spPr>
        <p:txBody>
          <a:bodyPr/>
          <a:p/>
        </p:txBody>
      </p:sp>
      <p:pic>
        <p:nvPicPr>
          <p:cNvPr id="223" name=""/>
          <p:cNvPicPr>
            <a:picLocks noChangeAspect="1"/>
          </p:cNvPicPr>
          <p:nvPr/>
        </p:nvPicPr>
        <p:blipFill>
          <a:blip r:embed="rId1"/>
          <a:srcRect l="0" t="15821" r="0" b="15821"/>
          <a:stretch>
            <a:fillRect/>
          </a:stretch>
        </p:blipFill>
        <p:spPr>
          <a:xfrm rot="0" flipH="0" flipV="0">
            <a:off x="7581900" y="1104900"/>
            <a:ext cx="4000500" cy="40005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581900" y="5295900"/>
            <a:ext cx="4000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E9E5DC"/>
                </a:solidFill>
                <a:latin typeface="Georgia"/>
                <a:ea typeface="Georgia"/>
              </a:rPr>
              <a:t>Same song. Same man.</a:t>
            </a:r>
            <a:r>
              <a:rPr lang="en-US" sz="1425">
                <a:solidFill>
                  <a:srgbClr val="E9E5DC">
                    <a:alpha val="55000"/>
                  </a:srgbClr>
                </a:solidFill>
                <a:latin typeface="Georgia"/>
                <a:ea typeface="Georgia"/>
              </a:rPr>
              <a:t xml:space="preserve"> One verb, three characters, and the politeness is gone.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08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6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6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6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6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6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6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6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6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26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6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style={{ width: 1280, height: 720, padding: '20px 64px', background: '#0B0E14', flexDirection: 'column' }}&gt;&#10;&#10;    {/* A · 标题块 */}&#10;    &lt;Box style={{ flexDirection: 'column', height: 96, justifyContent: 'center' }}&gt;&#10;        &lt;Box style={{ flexDirection: 'row', alignItems: 'center', gap: 12, marginBottom: 10 }}&gt;&#10;            &lt;Text style={{ fontFamily: 'Microsoft YaHei', fontSize: 12, fontWeight: 'bold', color: '#D8482F', letterSpacing: 3 }}&gt;&#10;                08 — WHAT I KEEP&#10;            &lt;/Text&gt;&#10;            &lt;Box style={{ width: 46, height: 1, background: 'rgba(233,229,220,0.22)' }} /&gt;&#10;        &lt;/Box&gt;&#10;        &lt;Text style={{ fontFamily: 'Georgia', fontSize: 34, fontWeight: 'bold', color: '#E9E5DC' }}&gt;&#10;            Three things I'm taking with me&#10;        &lt;/Text&gt;&#10;    &lt;/Box&gt;&#10;&#10;    {/* B · 内容区 */}&#10;    &lt;Box style={{ flexDirection: 'row', height: 520, gap: 44 }}&gt;&#10;&#10;        {/* 左：窄栏 */}&#10;        &lt;Box style={{ width: 288, height: 520, flexDirection: 'column', justifyContent: 'space-between' }}&gt;&#10;            &lt;Box style={{ flexDirection: 'column' }}&gt;&#10;                &lt;Box style={{ width: 40, height: 2, background: '#D8482F', marginBottom: 22 }} /&gt;&#10;                &lt;Text style={{ fontFamily: 'Georgia', fontSize: 104, fontWeight: 'bold', color: '#D8482F', lineHeight: 1.0 }}&gt;03&lt;/Text&gt;&#10;                &lt;Text style={{ fontFamily: 'Microsoft YaHei', fontSize: 14, color: 'rgba(233,229,220,0.5)', lineHeight: 1.8, marginTop: 10 }}&gt;&#10;                    things from a pop singer's&lt;br /&gt;career that a student&lt;br /&gt;can actually use&#10;                &lt;/Text&gt;&#10;            &lt;/Box&gt;&#10;            &lt;Text style={{ fontFamily: 'Microsoft YaHei', fontSize: 13, color: 'rgba(233,229,220,0.34)', lineHeight: 1.7 }}&gt;&#10;                Not motivation. Mechanics — how he kept going when nobody was watching.&#10;            &lt;/Text&gt;&#10;        &lt;/Box&gt;&#10;&#10;        {/* 右：三条 */}&#10;        &lt;Box style={{ width: 820, height: 520, flexDirection: 'column', justifyContent: 'space-between' }}&gt;&#10;&#10;            &lt;Animation animType=&quot;fadeIn&quot; duration={650} startType=&quot;afterPrevious&quot;&gt;&#10;                &lt;Box style={{ flexDirection: 'column', paddingBottom: 24, borderBottom: '1px solid rgba(233,229,220,0.13)' }}&gt;&#10;                    &lt;Text style={{ fontFamily: 'Microsoft YaHei', fontSize: 11, fontWeight: 'bold', color: '#D8482F', letterSpacing: 3 }}&gt;ONE&lt;/Text&gt;&#10;                    &lt;Text style={{ fontFamily: 'Georgia', fontSize: 24, fontWeight: 'bold', color: '#E9E5DC', marginTop: 10 }}&gt;&#10;                        Funny and hurting are the same person.&#10;                    &lt;/Text&gt;&#10;                    &lt;Text style={{ fontFamily: 'Microsoft YaHei', fontSize: 16, color: 'rgba(233,229,220,0.72)', lineHeight: 1.7, marginTop: 10 }}&gt;&#10;                        The man who made a stadium laugh also wrote its saddest songs. Being fine is a performance; so is being funny. Neither one means the feeling is not there.&#10;                    &lt;/Text&gt;&#10;                &lt;/Box&gt;&#10;            &lt;/Animation&gt;&#10;&#10;            &lt;Animation animType=&quot;fadeIn&quot; duration={650} startType=&quot;afterPrevious&quot;&gt;&#10;                &lt;Box style={{ flexDirection: 'column', paddingTop: 24, paddingBottom: 24, borderBottom: '1px solid rgba(233,229,220,0.13)' }}&gt;&#10;                    &lt;Text style={{ fontFamily: 'Microsoft YaHei', fontSize: 11, fontWeight: 'bold', color: '#D8482F', letterSpacing: 3 }}&gt;TWO&lt;/Text&gt;&#10;                    &lt;Text style={{ fontFamily: 'Georgia', fontSize: 24, fontWeight: 'bold', color: '#E9E5DC', marginTop: 10 }}&gt;&#10;                        Persistence usually looks like a detour.&#10;                    &lt;/Text&gt;&#10;                    &lt;Text style={{ fontFamily: 'Microsoft YaHei', fontSize: 16, color: 'rgba(233,229,220,0.72)', lineHeight: 1.7, marginTop: 10 }}&gt;&#10;                        He sold hotpot and T-shirts to pay for studio hours. When a side quest is funding the main thing, it is not a distraction — it is the plan.&#10;                    &lt;/Text&gt;&#10;                &lt;/Box&gt;&#10;            &lt;/Animation&gt;&#10;&#10;            &lt;Animation animType=&quot;fadeIn&quot; duration={650} startType=&quot;afterPrevious&quot;&gt;&#10;                &lt;Box style={{ flexDirection: 'column', paddingTop: 24 }}&gt;&#10;                    &lt;Text style={{ fontFamily: 'Microsoft YaHei', fontSize: 11, fontWeight: 'bold', color: '#D8482F', letterSpacing: 3 }}&gt;THREE&lt;/Text&gt;&#10;                    &lt;Text style={{ fontFamily: 'Georgia', fontSize: 24, fontWeight: 'bold', color: '#E9E5DC', marginTop: 10 }}&gt;&#10;                        Saying it clearly is a skill.&#10;                    &lt;/Text&gt;&#10;                    &lt;Text style={{ fontFamily: 'Microsoft YaHei', fontSize: 16, color: 'rgba(233,229,220,0.72)', lineHeight: 1.7, marginTop: 10 }}&gt;&#10;                        He never reaches for a decorated word when a plain one hurts more. Clarity — not vocabulary — is what actually lands. This is also true of English essays.&#10;                    &lt;/Text&gt;&#10;                &lt;/Box&gt;&#10;            &lt;/Animation&gt;&#10;&#10;        &lt;/Box&gt;&#10;&#10;    &lt;/Box&gt;&#10;&#10;    {/* C · 页脚条 */}&#10;    &lt;Box style={{ flexDirection: 'row', justifyContent: 'space-between', alignItems: 'flex-end', height: 56 }}&gt;&#10;        &lt;Text style={{ fontFamily: 'Microsoft YaHei', fontSize: 13, color: 'rgba(233,229,220,0.34)', letterSpacing: 1 }}&gt;&#10;            JOKER XUE · 薛之谦&#10;        &lt;/Text&gt;&#10;        &lt;Text style={{ fontFamily: 'Georgia', fontSize: 13, color: 'rgba(233,229,220,0.34)', letterSpacing: 2 }}&gt;&#10;            09 / 10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D8482F"/>
                </a:solidFill>
                <a:latin typeface="Microsoft YaHei"/>
                <a:ea typeface="Microsoft YaHei"/>
              </a:rPr>
              <a:t>08 — WHAT I KEEP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2286000" y="400050"/>
            <a:ext cx="438150" cy="9525"/>
          </a:xfrm>
          <a:prstGeom prst="rect">
            <a:avLst/>
          </a:pr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9E5DC"/>
                </a:solidFill>
                <a:latin typeface="Georgia"/>
                <a:ea typeface="Georgia"/>
              </a:rPr>
              <a:t>Three things I'm taking with me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1104900"/>
            <a:ext cx="381000" cy="19050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27432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D8482F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274320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things from a pop singer's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career that a student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can actually use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5543550"/>
            <a:ext cx="2743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Not motivation. Mechanics — how he kept going when nobody was watching.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771900" y="1104900"/>
            <a:ext cx="7810500" cy="1476375"/>
          </a:xfrm>
          <a:custGeom>
            <a:pathLst>
              <a:path w="820" h="155">
                <a:moveTo>
                  <a:pt x="0" y="154"/>
                </a:moveTo>
                <a:lnTo>
                  <a:pt x="820" y="154"/>
                </a:lnTo>
                <a:lnTo>
                  <a:pt x="820" y="155"/>
                </a:lnTo>
                <a:lnTo>
                  <a:pt x="0" y="155"/>
                </a:lnTo>
                <a:close/>
              </a:path>
            </a:pathLst>
          </a:custGeom>
          <a:solidFill>
            <a:srgbClr val="E9E5DC">
              <a:alpha val="13000"/>
            </a:srgbClr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771900" y="1104900"/>
            <a:ext cx="781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D8482F"/>
                </a:solidFill>
                <a:latin typeface="Microsoft YaHei"/>
                <a:ea typeface="Microsoft YaHei"/>
              </a:rPr>
              <a:t>ONE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771900" y="1333500"/>
            <a:ext cx="781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9E5DC"/>
                </a:solidFill>
                <a:latin typeface="Georgia"/>
                <a:ea typeface="Georgia"/>
              </a:rPr>
              <a:t>Funny and hurting are the same person.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771900" y="1704975"/>
            <a:ext cx="781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The man who made a stadium laugh also wrote its saddest songs. Being fine is a performance; so is being funny. Neither one means the feeling is not there.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771900" y="2743200"/>
            <a:ext cx="7810500" cy="1704975"/>
          </a:xfrm>
          <a:custGeom>
            <a:pathLst>
              <a:path w="820" h="179">
                <a:moveTo>
                  <a:pt x="0" y="178"/>
                </a:moveTo>
                <a:lnTo>
                  <a:pt x="820" y="178"/>
                </a:lnTo>
                <a:lnTo>
                  <a:pt x="820" y="179"/>
                </a:lnTo>
                <a:lnTo>
                  <a:pt x="0" y="179"/>
                </a:lnTo>
                <a:close/>
              </a:path>
            </a:pathLst>
          </a:custGeom>
          <a:solidFill>
            <a:srgbClr val="E9E5DC">
              <a:alpha val="13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771900" y="2971800"/>
            <a:ext cx="781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D8482F"/>
                </a:solidFill>
                <a:latin typeface="Microsoft YaHei"/>
                <a:ea typeface="Microsoft YaHei"/>
              </a:rPr>
              <a:t>TWO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771900" y="3200400"/>
            <a:ext cx="781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9E5DC"/>
                </a:solidFill>
                <a:latin typeface="Georgia"/>
                <a:ea typeface="Georgia"/>
              </a:rPr>
              <a:t>Persistence usually looks like a detour.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771900" y="3571875"/>
            <a:ext cx="781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He sold hotpot and T-shirts to pay for studio hours. When a side quest is funding the main thing, it is not a distraction — it is the plan.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771900" y="4829175"/>
            <a:ext cx="781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225">
                <a:solidFill>
                  <a:srgbClr val="D8482F"/>
                </a:solidFill>
                <a:latin typeface="Microsoft YaHei"/>
                <a:ea typeface="Microsoft YaHei"/>
              </a:rPr>
              <a:t>THREE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771900" y="5057775"/>
            <a:ext cx="781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9E5DC"/>
                </a:solidFill>
                <a:latin typeface="Georgia"/>
                <a:ea typeface="Georgia"/>
              </a:rPr>
              <a:t>Saying it clearly is a skill.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771900" y="5429250"/>
            <a:ext cx="781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9E5DC">
                    <a:alpha val="72000"/>
                  </a:srgbClr>
                </a:solidFill>
                <a:latin typeface="Microsoft YaHei"/>
                <a:ea typeface="Microsoft YaHei"/>
              </a:rPr>
              <a:t>He never reaches for a decorated word when a plain one hurts more. Clarity — not vocabulary — is what actually lands. This is also true of English essays.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4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09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6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6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6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6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29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6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30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" name="" descr="&lt;Slide style={{ width: 1280, height: 720, padding: 0, position: 'relative', background: '#0B0E14', overflow: 'hidden' }}&gt;&#13;&#10;&#13;&#10;    {/* 满版底图 */}&#13;&#10;    &lt;Box style={{ position: 'absolute', top: 0, left: 0, width: 1280, height: 720 }}&gt;&#13;&#10;        &lt;Image src=&quot;assets/rain_stage.jpg&quot; style={{ width: 1280, height: 720, objectFit: 'cover' }} /&gt;&#13;&#10;    &lt;/Box&gt;&#13;&#10;&#13;&#10;    {/* 压暗 */}&#13;&#10;    &lt;Box style={{ position: 'absolute', top: 0, left: 0, width: 1280, height: 720, background: 'rgba(11,14,20,0.34)' }} /&gt;&#13;&#10;    &lt;Box style={{ position: 'absolute', top: 0, left: 0, width: 1280, height: 720, background: 'linear-gradient(90deg, #0B0E14 0%, rgba(11,14,20,0.95) 44%, rgba(11,14,20,0.62) 74%, rgba(11,14,20,0.5) 100%)' }} /&gt;&#13;&#10;&#13;&#10;    {/* 左侧文字 */}&#13;&#10;    &lt;Box style={{ position: 'absolute', top: 0, left: 76, width: 660, height: 720, flexDirection: 'column', justifyContent: 'center' }}&gt;&#13;&#10;&#13;&#10;        &lt;Box style={{ flexDirection: 'row', alignItems: 'center', gap: 12 }}&gt;&#13;&#10;            &lt;Box style={{ width: 34, height: 2, background: '#D8482F' }} /&gt;&#13;&#10;            &lt;Text style={{ fontFamily: 'Microsoft YaHei', fontSize: 12, fontWeight: 'bold', color: 'rgba(233,229,220,0.6)', letterSpacing: 3 }}&gt;&#13;&#10;                ONE LAST THING — PRESS PLAY&#13;&#10;            &lt;/Text&gt;&#13;&#10;        &lt;/Box&gt;&#13;&#10;&#13;&#10;        &lt;Animation animType=&quot;fadeIn&quot; duration={800} startType=&quot;afterPrevious&quot;&gt;&#13;&#10;            &lt;Box style={{ flexDirection: 'column', marginTop: 28 }}&gt;&#13;&#10;                &lt;Text style={{ fontFamily: 'Microsoft YaHei', fontSize: 104, fontWeight: 'bold', color: '#E9E5DC', lineHeight: 1.05, letterSpacing: 4 }}&gt;&#13;&#10;                    其实&#13;&#10;                &lt;/Text&gt;&#13;&#10;                &lt;Text style={{ fontFamily: 'Georgia', fontSize: 22, color: '#D8482F', letterSpacing: 6, marginTop: 10 }}&gt;&#13;&#10;                    ACTUALLY&#13;&#10;                &lt;/Text&gt;&#13;&#10;                &lt;Text style={{ fontFamily: 'Microsoft YaHei', fontSize: 14, color: 'rgba(233,229,220,0.5)', letterSpacing: 1, marginTop: 14 }}&gt;&#13;&#10;                    album 《意外》 · 2013 · 4:02 · words &amp;amp; music by 薛之谦&#13;&#10;                &lt;/Text&gt;&#13;&#10;            &lt;/Box&gt;&#13;&#10;        &lt;/Animation&gt;&#13;&#10;&#13;&#10;        &lt;Animation animType=&quot;fadeIn&quot; duration={800} startType=&quot;afterPrevious&quot;&gt;&#13;&#10;            &lt;Box style={{ flexDirection: 'column', marginTop: 44, paddingLeft: 22, borderLeft: '2px solid rgba(216,72,47,0.85)' }}&gt;&#13;&#10;                &lt;Text style={{ fontFamily: 'Microsoft YaHei', fontSize: 29, color: '#E9E5DC', lineHeight: 1.6 }}&gt;&#13;&#10;                    其实我爱你，比你想的多得多&#13;&#10;                &lt;/Text&gt;&#13;&#10;                &lt;Text style={{ fontFamily: 'Georgia', fontSize: 15, color: 'rgba(233,229,220,0.6)', lineHeight: 1.7, marginTop: 8 }}&gt;&#13;&#10;                    &quot;Actually, I love you much, much more than you thought.&quot;&#13;&#10;                &lt;/Text&gt;&#13;&#10;            &lt;/Box&gt;&#13;&#10;        &lt;/Animation&gt;&#13;&#10;&#13;&#10;    &lt;/Box&gt;&#13;&#10;&#13;&#10;    {/* 左下：落款 */}&#13;&#10;    &lt;Box style={{ position: 'absolute', bottom: 62, left: 76, width: 640, flexDirection: 'row', alignItems: 'center', gap: 14 }}&gt;&#13;&#10;        &lt;Text style={{ fontFamily: 'Georgia', fontSize: 21, color: 'rgba(233,229,220,0.88)' }}&gt;&#13;&#10;            Thank you.&#13;&#10;        &lt;/Text&gt;&#13;&#10;        &lt;Box style={{ width: 30, height: 1, background: 'rgba(233,229,220,0.3)' }} /&gt;&#13;&#10;        &lt;Text style={{ fontFamily: 'Microsoft YaHei', fontSize: 13, color: 'rgba(233,229,220,0.45)', letterSpacing: 1 }}&gt;&#13;&#10;            English duty report · October 2026&#13;&#10;        &lt;/Text&gt;&#13;&#10;    &lt;/Box&gt;&#13;&#10;&#13;&#10;    {/* 左下：页脚 */}&#13;&#10;    &lt;Box style={{ position: 'absolute', bottom: 26, left: 76 }}&gt;&#13;&#10;        &lt;Text style={{ fontFamily: 'Microsoft YaHei', fontSize: 13, color: 'rgba(233,229,220,0.3)', letterSpacing: 1 }}&gt;&#13;&#10;            JOKER XUE · 薛之谦&#13;&#10;        &lt;/Text&gt;&#13;&#10;    &lt;/Box&gt;&#13;&#10;&#13;&#10;    {/* 中右：收束句 */}&#13;&#10;    &lt;Box style={{ position: 'absolute', top: 268, left: 690, width: 250, flexDirection: 'column', paddingLeft: 20, borderLeft: '1px solid rgba(233,229,220,0.22)' }}&gt;&#13;&#10;        &lt;Text style={{ fontFamily: 'Georgia', fontSize: 20, color: 'rgba(233,229,220,0.86)', lineHeight: 1.55 }}&gt;&#13;&#10;            He built a career out of the distance between what he says and what he means.&#13;&#10;        &lt;/Text&gt;&#13;&#10;        &lt;Text style={{ fontFamily: 'Microsoft YaHei', fontSize: 12, color: 'rgba(233,229,220,0.4)', marginTop: 16, lineHeight: 1.7 }}&gt;&#13;&#10;            20 years, 12 albums,&lt;br /&gt;one word he keeps coming back to.&#13;&#10;        &lt;/Text&gt;&#13;&#10;    &lt;/Box&gt;&#13;&#10;&#13;&#10;    {/* 右侧：扫码听歌 */}&#13;&#10;    &lt;Box style={{ position: 'absolute', top: 0, right: 86, width: 222, height: 720, flexDirection: 'column', alignItems: 'center', justifyContent: 'center' }}&gt;&#13;&#10;        &lt;Animation animType=&quot;fadeIn&quot; duration={800} startType=&quot;afterPrevious&quot;&gt;&#13;&#10;            &lt;Box style={{ padding: 14, background: '#E9E5DC', borderRadius: 3 }}&gt;&#13;&#10;                &lt;QRCode text='https://music.163.com/#/search/m/?s=%E5%85%B6%E5%AE%9E%20%E8%96%9B%E4%B9%8B%E8%B0%A6&amp;type=1' width={168} darkColor='#0B0E14' lightColor='#E9E5DC' errorCorrectionLevel='Q' /&gt;&#13;&#10;            &lt;/Box&gt;&#13;&#10;        &lt;/Animation&gt;&#13;&#10;        &lt;Box style={{ marginTop: 16, paddingTop: 12, paddingBottom: 12, paddingLeft: 16, paddingRight: 16, background: 'rgba(11,14,20,0.8)', borderRadius: 2, flexDirection: 'column', alignItems: 'center' }}&gt;&#13;&#10;            &lt;Text style={{ fontFamily: 'Microsoft YaHei', fontSize: 13, color: '#E9E5DC', letterSpacing: 1 }}&gt;&#13;&#10;                Scan to listen&#13;&#10;            &lt;/Text&gt;&#13;&#10;            &lt;Text style={{ fontFamily: 'Microsoft YaHei', fontSize: 12, color: 'rgba(233,229,220,0.55)', marginTop: 6, textAlign: 'center', lineHeight: 1.6 }}&gt;&#13;&#10;                网易云音乐 · 《其实》薛之谦&lt;br /&gt;headphones recommended&#13;&#10;            &lt;/Text&gt;&#13;&#10;        &lt;/Box&gt;&#13;&#10;    &lt;/Box&gt;&#13;&#10;&#13;&#10;    {/* 右下页码 */}&#13;&#10;    &lt;Box style={{ position: 'absolute', bottom: 26, right: 64 }}&gt;&#13;&#10;        &lt;Text style={{ fontFamily: 'Georgia', fontSize: 13, color: 'rgba(233,229,220,0.34)', letterSpacing: 2 }}&gt;&#13;&#10;            10 / 10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/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Id1"/>
          <a:srcRect l="0" t="6186" r="0" b="618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E14">
              <a:alpha val="34000"/>
            </a:srgbClr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E14"/>
              </a:gs>
              <a:gs pos="44000">
                <a:srgbClr val="0B0E14">
                  <a:alpha val="95000"/>
                </a:srgbClr>
              </a:gs>
              <a:gs pos="74000">
                <a:srgbClr val="0B0E14">
                  <a:alpha val="62000"/>
                </a:srgbClr>
              </a:gs>
              <a:gs pos="100000">
                <a:srgbClr val="0B0E14">
                  <a:alpha val="5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723900" y="1676400"/>
            <a:ext cx="323850" cy="19050"/>
          </a:xfrm>
          <a:prstGeom prst="rect">
            <a:avLst/>
          </a:prstGeom>
          <a:solidFill>
            <a:srgbClr val="D8482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62050" y="1609725"/>
            <a:ext cx="2657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E9E5DC">
                    <a:alpha val="60000"/>
                  </a:srgbClr>
                </a:solidFill>
                <a:latin typeface="Microsoft YaHei"/>
                <a:ea typeface="Microsoft YaHei"/>
              </a:rPr>
              <a:t>ONE LAST THING — PRESS PLAY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23900" y="2019300"/>
            <a:ext cx="6286500" cy="12573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7800" b="1" spc="300">
                <a:solidFill>
                  <a:srgbClr val="E9E5DC"/>
                </a:solidFill>
                <a:latin typeface="Microsoft YaHei"/>
                <a:ea typeface="Microsoft YaHei"/>
              </a:rPr>
              <a:t>其实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23900" y="3371850"/>
            <a:ext cx="628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D8482F"/>
                </a:solidFill>
                <a:latin typeface="Georgia"/>
                <a:ea typeface="Georgia"/>
              </a:rPr>
              <a:t>ACTUALLY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23900" y="3762375"/>
            <a:ext cx="628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 xml:space="preserve">album </a:t>
            </a:r>
            <a:r>
              <a:rPr lang="zh-CN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《意外》</a:t>
            </a:r>
            <a:r>
              <a:rPr lang="en-US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2013 · 4:02 · words &amp; music by </a:t>
            </a:r>
            <a:r>
              <a:rPr lang="zh-CN" sz="1050" spc="75">
                <a:solidFill>
                  <a:srgbClr val="E9E5DC">
                    <a:alpha val="50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23900" y="4343400"/>
            <a:ext cx="6305550" cy="904875"/>
          </a:xfrm>
          <a:custGeom>
            <a:pathLst>
              <a:path w="662" h="95">
                <a:moveTo>
                  <a:pt x="0" y="0"/>
                </a:moveTo>
                <a:lnTo>
                  <a:pt x="2" y="0"/>
                </a:lnTo>
                <a:lnTo>
                  <a:pt x="2" y="95"/>
                </a:lnTo>
                <a:lnTo>
                  <a:pt x="0" y="95"/>
                </a:lnTo>
                <a:close/>
              </a:path>
            </a:pathLst>
          </a:custGeom>
          <a:solidFill>
            <a:srgbClr val="D8482F">
              <a:alpha val="85000"/>
            </a:srgbClr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52500" y="4343400"/>
            <a:ext cx="6057900" cy="5334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75">
                <a:solidFill>
                  <a:srgbClr val="E9E5DC"/>
                </a:solidFill>
                <a:latin typeface="Microsoft YaHei"/>
                <a:ea typeface="Microsoft YaHei"/>
              </a:rPr>
              <a:t>其实我爱你，比你想的多得多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52500" y="4953000"/>
            <a:ext cx="6057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E9E5DC">
                    <a:alpha val="60000"/>
                  </a:srgbClr>
                </a:solidFill>
                <a:latin typeface="Georgia"/>
                <a:ea typeface="Georgia"/>
              </a:rPr>
              <a:t>"Actually, I love you much, much more than you thought."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23900" y="6019800"/>
            <a:ext cx="990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E9E5DC">
                    <a:alpha val="88000"/>
                  </a:srgbClr>
                </a:solidFill>
                <a:latin typeface="Georgia"/>
                <a:ea typeface="Georgia"/>
              </a:rPr>
              <a:t>Thank you.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1847850" y="6143625"/>
            <a:ext cx="285750" cy="9525"/>
          </a:xfrm>
          <a:prstGeom prst="rect">
            <a:avLst/>
          </a:prstGeom>
          <a:solidFill>
            <a:srgbClr val="E9E5DC">
              <a:alpha val="30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266950" y="606742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45000"/>
                  </a:srgbClr>
                </a:solidFill>
                <a:latin typeface="Microsoft YaHei"/>
                <a:ea typeface="Microsoft YaHei"/>
              </a:rPr>
              <a:t>English duty report · October 2026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3900" y="6457950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>
                    <a:alpha val="30000"/>
                  </a:srgbClr>
                </a:solidFill>
                <a:latin typeface="Microsoft YaHei"/>
                <a:ea typeface="Microsoft YaHei"/>
              </a:rPr>
              <a:t xml:space="preserve">JOKER XUE · </a:t>
            </a:r>
            <a:r>
              <a:rPr lang="zh-CN" sz="975" spc="75">
                <a:solidFill>
                  <a:srgbClr val="E9E5DC">
                    <a:alpha val="30000"/>
                  </a:srgbClr>
                </a:solidFill>
                <a:latin typeface="Microsoft YaHei"/>
                <a:ea typeface="Microsoft YaHei"/>
              </a:rPr>
              <a:t>薛之谦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572250" y="2552700"/>
            <a:ext cx="2381250" cy="2038350"/>
          </a:xfrm>
          <a:custGeom>
            <a:pathLst>
              <a:path w="250" h="214">
                <a:moveTo>
                  <a:pt x="0" y="0"/>
                </a:moveTo>
                <a:lnTo>
                  <a:pt x="1" y="0"/>
                </a:lnTo>
                <a:lnTo>
                  <a:pt x="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E9E5DC">
              <a:alpha val="22000"/>
            </a:srgbClr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72275" y="2552700"/>
            <a:ext cx="2181225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E9E5DC">
                    <a:alpha val="86000"/>
                  </a:srgbClr>
                </a:solidFill>
                <a:latin typeface="Georgia"/>
                <a:ea typeface="Georgia"/>
              </a:rPr>
              <a:t>He built a career out of the distance between what he says and what he means.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772275" y="4124325"/>
            <a:ext cx="2181225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9E5DC">
                    <a:alpha val="40000"/>
                  </a:srgbClr>
                </a:solidFill>
                <a:latin typeface="Microsoft YaHei"/>
                <a:ea typeface="Microsoft YaHei"/>
              </a:rPr>
              <a:t>20 years, 12 albums,</a:t>
            </a:r>
            <a:endParaRPr/>
          </a:p>
          <a:p>
            <a:pPr>
              <a:lnSpc>
                <a:spcPct val="170000"/>
              </a:lnSpc>
            </a:pPr>
            <a:r>
              <a:rPr lang="en-US" sz="900">
                <a:solidFill>
                  <a:srgbClr val="E9E5DC">
                    <a:alpha val="40000"/>
                  </a:srgbClr>
                </a:solidFill>
                <a:latin typeface="Microsoft YaHei"/>
                <a:ea typeface="Microsoft YaHei"/>
              </a:rPr>
              <a:t>one word he keeps coming back to.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9382125" y="19812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E9E5DC"/>
          </a:solidFill>
          <a:ln/>
        </p:spPr>
        <p:txBody>
          <a:bodyPr/>
          <a:p/>
        </p:txBody>
      </p:sp>
      <p:pic>
        <p:nvPicPr>
          <p:cNvPr id="34" name="" descr="QR Code: https://music.163.com/#/search/m/?s=%E5%85%B6%E5%AE%9E%20%E8%96%9B%E4%B9%8B%E8%B0%A6&amp;type=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15475" y="2114550"/>
            <a:ext cx="1600200" cy="1600200"/>
          </a:xfrm>
          <a:prstGeom prst="rect">
            <a:avLst/>
          </a:prstGeom>
          <a:ln/>
        </p:spPr>
      </p:pic>
      <p:sp>
        <p:nvSpPr>
          <p:cNvPr id="35" name=""/>
          <p:cNvSpPr/>
          <p:nvPr/>
        </p:nvSpPr>
        <p:spPr>
          <a:xfrm rot="0" flipH="0" flipV="0">
            <a:off x="9410700" y="4000500"/>
            <a:ext cx="1819275" cy="885825"/>
          </a:xfrm>
          <a:prstGeom prst="roundRect">
            <a:avLst>
              <a:gd name="adj" fmla="val 2151"/>
            </a:avLst>
          </a:prstGeom>
          <a:solidFill>
            <a:srgbClr val="0B0E14">
              <a:alpha val="80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858375" y="411480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E9E5DC"/>
                </a:solidFill>
                <a:latin typeface="Microsoft YaHei"/>
                <a:ea typeface="Microsoft YaHei"/>
              </a:rPr>
              <a:t>Scan to listen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563100" y="4324350"/>
            <a:ext cx="151447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>网易云音乐</a:t>
            </a:r>
            <a:r>
              <a:rPr lang="en-US" sz="90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>《其实》薛之谦</a:t>
            </a:r>
            <a:endParaRPr/>
          </a:p>
          <a:p>
            <a:pPr algn="ctr">
              <a:lnSpc>
                <a:spcPct val="160000"/>
              </a:lnSpc>
            </a:pPr>
            <a:r>
              <a:rPr lang="en-US" sz="900">
                <a:solidFill>
                  <a:srgbClr val="E9E5DC">
                    <a:alpha val="55000"/>
                  </a:srgbClr>
                </a:solidFill>
                <a:latin typeface="Microsoft YaHei"/>
                <a:ea typeface="Microsoft YaHei"/>
              </a:rPr>
              <a:t>headphones recommended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68050" y="64579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9E5DC">
                    <a:alpha val="34000"/>
                  </a:srgbClr>
                </a:solidFill>
                <a:latin typeface="Georgia"/>
                <a:ea typeface="Georgia"/>
              </a:rPr>
              <a:t>10 / 10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id="3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2026-10-27T13:42:15Z</dcterms:created>
  <dcterms:modified xsi:type="dcterms:W3CDTF">2026-10-27T13:42:15Z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{"AIGC":{"Label":"1","ContentProducer":"00119111010856365494821B355","ProduceID":"01a17bbcbacf7644ab182cf66ff3a7b3","ReservedCode1":"","ContentPropagator":"00119111010856365494821B355","PropagateID":"01a17bbcbacf7644ab182cf66ff3a7b3","ReservedCode2":""}}</vt:lpwstr>
  </property>
</Properties>
</file>